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b82584bd2eb1808.jp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f7a7852a8be6fe0.jpg"/>
  <Relationship Id="rId3" Type="http://schemas.openxmlformats.org/officeDocument/2006/relationships/image" Target="../media/image_d22cba09804e88f9.jpg"/>
  <Relationship Id="rId4" Type="http://schemas.openxmlformats.org/officeDocument/2006/relationships/image" Target="../media/image_376f79de26687536.jpg"/>
  <Relationship Id="rId5" Type="http://schemas.openxmlformats.org/officeDocument/2006/relationships/image" Target="../media/image_e8501109f5ce001b.jpg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76f79de26687536.jpg"/>
  <Relationship Id="rId3" Type="http://schemas.openxmlformats.org/officeDocument/2006/relationships/image" Target="../media/image_320584625aced9e7.jpg"/>
  <Relationship Id="rId4" Type="http://schemas.openxmlformats.org/officeDocument/2006/relationships/image" Target="../media/image_45febf108e2177e3.jpg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d0d7ff57a9502f8.jpg"/>
  <Relationship Id="rId3" Type="http://schemas.openxmlformats.org/officeDocument/2006/relationships/image" Target="../media/image_d22cba09804e88f9.jpg"/>
  <Relationship Id="rId4" Type="http://schemas.openxmlformats.org/officeDocument/2006/relationships/image" Target="../media/image_d5d6c5291d101dbb.jpg"/>
  <Relationship Id="rId5" Type="http://schemas.openxmlformats.org/officeDocument/2006/relationships/image" Target="../media/image_693bacc640f2c23a.jpg"/>
  <Relationship Id="rId6" Type="http://schemas.openxmlformats.org/officeDocument/2006/relationships/image" Target="../media/image_e8501109f5ce001b.jpg"/>
  <Relationship Id="rId7" Type="http://schemas.openxmlformats.org/officeDocument/2006/relationships/image" Target="../media/image_ff7a7852a8be6fe0.jpg"/>
  <Relationship Id="rId8" Type="http://schemas.openxmlformats.org/officeDocument/2006/relationships/image" Target="../media/image_168b0260a343a971.jpg"/>
  <Relationship Id="rId9" Type="http://schemas.openxmlformats.org/officeDocument/2006/relationships/image" Target="../media/image_3f2fcd49dd91b5f3.jpg"/>
  <Relationship Id="rId10" Type="http://schemas.openxmlformats.org/officeDocument/2006/relationships/image" Target="../media/image_1021d078631a5409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60000">
                <a:srgbClr val="000000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839152"/>
            <a:ext cx="25921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DEB3"/>
                </a:solidFill>
                <a:latin typeface="Segoe UI"/>
                <a:ea typeface="Microsoft YaHei"/>
                <a:cs typeface="Segoe UI"/>
              </a:rPr>
              <a:t>BALI · INDONESIA · 2026.07.04—07.10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095375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F5DEB3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97230" y="3735705"/>
            <a:ext cx="4628302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印尼 7 日 5 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5805" y="4645342"/>
            <a:ext cx="378355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5DEB3"/>
                </a:solidFill>
                <a:latin typeface="Segoe UI"/>
                <a:ea typeface="Microsoft YaHei"/>
                <a:cs typeface="Segoe UI"/>
              </a:rPr>
              <a:t>巴厘岛 A 线 5 钻纯玩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760" y="5204460"/>
            <a:ext cx="33428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D4C4A0"/>
                </a:solidFill>
                <a:latin typeface="Segoe UI"/>
                <a:ea typeface="Microsoft YaHei"/>
                <a:cs typeface="Segoe UI"/>
              </a:rPr>
              <a:t>Nusa Penida · Lembongan · Ubud · Jimbaran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9618" y="5704999"/>
            <a:ext cx="4564832" cy="198120"/>
            <a:chOff x="749618" y="5704999"/>
            <a:chExt cx="4564832" cy="198120"/>
          </a:xfrm>
        </p:grpSpPr>
        <p:sp>
          <p:nvSpPr>
            <p:cNvPr id="9" name="TextBox 9"/>
            <p:cNvSpPr txBox="1"/>
            <p:nvPr/>
          </p:nvSpPr>
          <p:spPr>
            <a:xfrm>
              <a:off x="749618" y="5704999"/>
              <a:ext cx="9023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¥7,543 起 / 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73618" y="5704999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64118" y="5704999"/>
              <a:ext cx="7138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A 线 10 人团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1368" y="5704999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11868" y="5704999"/>
              <a:ext cx="785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5 钻泳池别墅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59618" y="5704999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0118" y="570499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15 个景点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308384" y="65784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携程自营 · p69852382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174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CTTRIP · 决策手册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9590" y="786765"/>
            <a:ext cx="239410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目录 · 4 章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2000" y="1905000"/>
            <a:ext cx="10668000" cy="4000500"/>
            <a:chOff x="762000" y="1905000"/>
            <a:chExt cx="10668000" cy="4000500"/>
          </a:xfrm>
        </p:grpSpPr>
        <p:sp>
          <p:nvSpPr>
            <p:cNvPr id="6" name="Freeform 6"/>
            <p:cNvSpPr/>
            <p:nvPr/>
          </p:nvSpPr>
          <p:spPr>
            <a:xfrm>
              <a:off x="762000" y="1905000"/>
              <a:ext cx="5143500" cy="1905000"/>
            </a:xfrm>
            <a:custGeom>
              <a:avLst/>
              <a:gdLst/>
              <a:ahLst/>
              <a:cxnLst/>
              <a:rect l="l" t="t" r="r" b="b"/>
              <a:pathLst>
                <a:path w="5143500" h="190500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1847850"/>
                  </a:lnTo>
                  <a:cubicBezTo>
                    <a:pt x="5143500" y="1879413"/>
                    <a:pt x="5117913" y="1905000"/>
                    <a:pt x="50863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415" y="23631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CHAPTER 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7270" y="2693670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A1A"/>
                  </a:solidFill>
                  <a:latin typeface="Georgia"/>
                  <a:ea typeface="Microsoft YaHei"/>
                  <a:cs typeface="Georgia"/>
                </a:rPr>
                <a:t>决策速览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4415" y="3172778"/>
              <a:ext cx="3289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核心结论 · 真实航班 · 7 日总览 · 4 线对比 · 官方图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5368" y="3466624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4E79"/>
                  </a:solidFill>
                  <a:latin typeface="Consolas"/>
                  <a:ea typeface="Microsoft YaHei"/>
                  <a:cs typeface="Consolas"/>
                </a:rPr>
                <a:t>P03 - P07 · P26 - P28 图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286500" y="1905000"/>
              <a:ext cx="5143500" cy="1905000"/>
            </a:xfrm>
            <a:custGeom>
              <a:avLst/>
              <a:gdLst/>
              <a:ahLst/>
              <a:cxnLst/>
              <a:rect l="l" t="t" r="r" b="b"/>
              <a:pathLst>
                <a:path w="5143500" h="190500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1847850"/>
                  </a:lnTo>
                  <a:cubicBezTo>
                    <a:pt x="5143500" y="1879413"/>
                    <a:pt x="5117913" y="1905000"/>
                    <a:pt x="50863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58915" y="23631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CHAPTER 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41770" y="269367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A1A"/>
                  </a:solidFill>
                  <a:latin typeface="Georgia"/>
                  <a:ea typeface="Microsoft YaHei"/>
                  <a:cs typeface="Georgia"/>
                </a:rPr>
                <a:t>行程真实度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58915" y="3172778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价格日历 · 7 月最低 · 开团班期 · 决策 KPI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59868" y="3466624"/>
              <a:ext cx="538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E6B53"/>
                  </a:solidFill>
                  <a:latin typeface="Consolas"/>
                  <a:ea typeface="Microsoft YaHei"/>
                  <a:cs typeface="Consolas"/>
                </a:rPr>
                <a:t>P07 - P11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62000" y="4000500"/>
              <a:ext cx="5143500" cy="1905000"/>
            </a:xfrm>
            <a:custGeom>
              <a:avLst/>
              <a:gdLst/>
              <a:ahLst/>
              <a:cxnLst/>
              <a:rect l="l" t="t" r="r" b="b"/>
              <a:pathLst>
                <a:path w="5143500" h="190500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1847850"/>
                  </a:lnTo>
                  <a:cubicBezTo>
                    <a:pt x="5143500" y="1879413"/>
                    <a:pt x="5117913" y="1905000"/>
                    <a:pt x="50863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4415" y="44586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CHAPTER 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7270" y="478917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A1A"/>
                  </a:solidFill>
                  <a:latin typeface="Georgia"/>
                  <a:ea typeface="Microsoft YaHei"/>
                  <a:cs typeface="Georgia"/>
                </a:rPr>
                <a:t>预算与订位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4415" y="5268278"/>
              <a:ext cx="2287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 款竞品 · 班期库存 · 双人预算拆解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5368" y="5562124"/>
              <a:ext cx="538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4E79"/>
                  </a:solidFill>
                  <a:latin typeface="Consolas"/>
                  <a:ea typeface="Microsoft YaHei"/>
                  <a:cs typeface="Consolas"/>
                </a:rPr>
                <a:t>P17 - P19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286500" y="4000500"/>
              <a:ext cx="5143500" cy="1905000"/>
            </a:xfrm>
            <a:custGeom>
              <a:avLst/>
              <a:gdLst/>
              <a:ahLst/>
              <a:cxnLst/>
              <a:rect l="l" t="t" r="r" b="b"/>
              <a:pathLst>
                <a:path w="5143500" h="190500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1847850"/>
                  </a:lnTo>
                  <a:cubicBezTo>
                    <a:pt x="5143500" y="1879413"/>
                    <a:pt x="5117913" y="1905000"/>
                    <a:pt x="50863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915" y="44586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CHAPTER 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41770" y="478917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A1A"/>
                  </a:solidFill>
                  <a:latin typeface="Georgia"/>
                  <a:ea typeface="Microsoft YaHei"/>
                  <a:cs typeface="Georgia"/>
                </a:rPr>
                <a:t>风险与决策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58915" y="5268278"/>
              <a:ext cx="2609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体力强度 · 火山警示 · 出发清单 · 三选项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59868" y="5562124"/>
              <a:ext cx="1233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392B"/>
                  </a:solidFill>
                  <a:latin typeface="Consolas"/>
                  <a:ea typeface="Microsoft YaHei"/>
                  <a:cs typeface="Consolas"/>
                </a:rPr>
                <a:t>P12 - P16 / P20 - P21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53850" y="1905000"/>
            <a:ext cx="114300" cy="4000500"/>
            <a:chOff x="11753850" y="1905000"/>
            <a:chExt cx="114300" cy="4000500"/>
          </a:xfrm>
        </p:grpSpPr>
        <p:sp>
          <p:nvSpPr>
            <p:cNvPr id="27" name="Line 27"/>
            <p:cNvSpPr/>
            <p:nvPr/>
          </p:nvSpPr>
          <p:spPr>
            <a:xfrm>
              <a:off x="11811000" y="19050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19050">
              <a:solidFill>
                <a:srgbClr val="D4C5A0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1753850" y="2324100"/>
              <a:ext cx="114300" cy="11430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753850" y="3276600"/>
              <a:ext cx="114300" cy="11430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53850" y="4419600"/>
              <a:ext cx="114300" cy="11430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1753850" y="5467350"/>
              <a:ext cx="114300" cy="11430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561022" y="6578441"/>
            <a:ext cx="19902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携程 e2e 重抓 p69762187 · 2026-06-07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P02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6" grpId="0"/>
      <p:bldP spid="32" grpId="0"/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391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核心结论 · 1 页 = 5 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55124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出发前 27 天,你能确定的 5 件事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619250"/>
            <a:ext cx="10668000" cy="4610100"/>
            <a:chOff x="762000" y="1619250"/>
            <a:chExt cx="10668000" cy="4610100"/>
          </a:xfrm>
        </p:grpSpPr>
        <p:sp>
          <p:nvSpPr>
            <p:cNvPr id="6" name="Freeform 6"/>
            <p:cNvSpPr/>
            <p:nvPr/>
          </p:nvSpPr>
          <p:spPr>
            <a:xfrm>
              <a:off x="762000" y="1619250"/>
              <a:ext cx="10668000" cy="800100"/>
            </a:xfrm>
            <a:custGeom>
              <a:avLst/>
              <a:gdLst/>
              <a:ahLst/>
              <a:cxnLst/>
              <a:rect l="l" t="t" r="r" b="b"/>
              <a:pathLst>
                <a:path w="10668000" h="800100">
                  <a:moveTo>
                    <a:pt x="57150" y="0"/>
                  </a:moveTo>
                  <a:lnTo>
                    <a:pt x="10610850" y="0"/>
                  </a:lnTo>
                  <a:cubicBezTo>
                    <a:pt x="10642413" y="0"/>
                    <a:pt x="10668000" y="25587"/>
                    <a:pt x="10668000" y="57150"/>
                  </a:cubicBezTo>
                  <a:lnTo>
                    <a:pt x="10668000" y="742950"/>
                  </a:lnTo>
                  <a:cubicBezTo>
                    <a:pt x="10668000" y="774513"/>
                    <a:pt x="10642413" y="800100"/>
                    <a:pt x="10610850" y="800100"/>
                  </a:cubicBezTo>
                  <a:lnTo>
                    <a:pt x="57150" y="800100"/>
                  </a:lnTo>
                  <a:cubicBezTo>
                    <a:pt x="25587" y="800100"/>
                    <a:pt x="0" y="774513"/>
                    <a:pt x="0" y="7429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619250"/>
              <a:ext cx="57150" cy="8001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2045" y="1822132"/>
              <a:ext cx="238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4E79"/>
                  </a:solidFill>
                  <a:latin typeface="Georgia"/>
                  <a:ea typeface="Microsoft YaHei"/>
                  <a:cs typeface="Georgia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5450" y="1838325"/>
              <a:ext cx="76095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产品:印度尼西亚巴厘岛 7 日 5 晚私家团·A 线 5 钻纯玩 (No.1 巴厘岛豪华跟团游)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1165" y="2153602"/>
              <a:ext cx="55713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e2e 抓取 · 起点上海 · 0 购物 · 含导游 · 飞机往返 · 含 MU5029/30 东航直飞 + 15 个景点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62000" y="2571750"/>
              <a:ext cx="10668000" cy="800100"/>
            </a:xfrm>
            <a:custGeom>
              <a:avLst/>
              <a:gdLst/>
              <a:ahLst/>
              <a:cxnLst/>
              <a:rect l="l" t="t" r="r" b="b"/>
              <a:pathLst>
                <a:path w="10668000" h="800100">
                  <a:moveTo>
                    <a:pt x="57150" y="0"/>
                  </a:moveTo>
                  <a:lnTo>
                    <a:pt x="10610850" y="0"/>
                  </a:lnTo>
                  <a:cubicBezTo>
                    <a:pt x="10642413" y="0"/>
                    <a:pt x="10668000" y="25587"/>
                    <a:pt x="10668000" y="57150"/>
                  </a:cubicBezTo>
                  <a:lnTo>
                    <a:pt x="10668000" y="742950"/>
                  </a:lnTo>
                  <a:cubicBezTo>
                    <a:pt x="10668000" y="774513"/>
                    <a:pt x="10642413" y="800100"/>
                    <a:pt x="10610850" y="800100"/>
                  </a:cubicBezTo>
                  <a:lnTo>
                    <a:pt x="57150" y="800100"/>
                  </a:lnTo>
                  <a:cubicBezTo>
                    <a:pt x="25587" y="800100"/>
                    <a:pt x="0" y="774513"/>
                    <a:pt x="0" y="7429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571750"/>
              <a:ext cx="57150" cy="8001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22045" y="27746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4E79"/>
                  </a:solidFill>
                  <a:latin typeface="Georgia"/>
                  <a:ea typeface="Microsoft YaHei"/>
                  <a:cs typeface="Georgia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95450" y="2790825"/>
              <a:ext cx="73365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价格:7/4 ¥7,543/人(双人 ¥15,086),7/8 整月最便宜 ¥5,886(D 线同 ¥5,716)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1165" y="3106102"/>
              <a:ext cx="7440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e2e 4 线比价 · 7/4-7/10 双人预算 A¥15,086 / B¥18,368 / C¥23,586 · D 仅 7/7 7/8 班期 · 推荐 7/10 班期 A(库存 49)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62000" y="3524250"/>
              <a:ext cx="10668000" cy="800100"/>
            </a:xfrm>
            <a:custGeom>
              <a:avLst/>
              <a:gdLst/>
              <a:ahLst/>
              <a:cxnLst/>
              <a:rect l="l" t="t" r="r" b="b"/>
              <a:pathLst>
                <a:path w="10668000" h="800100">
                  <a:moveTo>
                    <a:pt x="57150" y="0"/>
                  </a:moveTo>
                  <a:lnTo>
                    <a:pt x="10610850" y="0"/>
                  </a:lnTo>
                  <a:cubicBezTo>
                    <a:pt x="10642413" y="0"/>
                    <a:pt x="10668000" y="25587"/>
                    <a:pt x="10668000" y="57150"/>
                  </a:cubicBezTo>
                  <a:lnTo>
                    <a:pt x="10668000" y="742950"/>
                  </a:lnTo>
                  <a:cubicBezTo>
                    <a:pt x="10668000" y="774513"/>
                    <a:pt x="10642413" y="800100"/>
                    <a:pt x="10610850" y="800100"/>
                  </a:cubicBezTo>
                  <a:lnTo>
                    <a:pt x="57150" y="800100"/>
                  </a:lnTo>
                  <a:cubicBezTo>
                    <a:pt x="25587" y="800100"/>
                    <a:pt x="0" y="774513"/>
                    <a:pt x="0" y="7429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3524250"/>
              <a:ext cx="57150" cy="8001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22045" y="37271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95450" y="3743325"/>
              <a:ext cx="81976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体力:轻松海岛游 · 全程 5 钻泳池别墅 · 15 个景点 + 2 次自由活动 + 佩妮达&amp;蓝梦双出海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1165" y="4058602"/>
              <a:ext cx="4913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e2e 真实评价 · 100 平别墅 5 晚连住 · 双出海浮潜+漂流 · 适合情侣/蜜月/家庭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762000" y="4476750"/>
              <a:ext cx="10668000" cy="800100"/>
            </a:xfrm>
            <a:custGeom>
              <a:avLst/>
              <a:gdLst/>
              <a:ahLst/>
              <a:cxnLst/>
              <a:rect l="l" t="t" r="r" b="b"/>
              <a:pathLst>
                <a:path w="10668000" h="800100">
                  <a:moveTo>
                    <a:pt x="57150" y="0"/>
                  </a:moveTo>
                  <a:lnTo>
                    <a:pt x="10610850" y="0"/>
                  </a:lnTo>
                  <a:cubicBezTo>
                    <a:pt x="10642413" y="0"/>
                    <a:pt x="10668000" y="25587"/>
                    <a:pt x="10668000" y="57150"/>
                  </a:cubicBezTo>
                  <a:lnTo>
                    <a:pt x="10668000" y="742950"/>
                  </a:lnTo>
                  <a:cubicBezTo>
                    <a:pt x="10668000" y="774513"/>
                    <a:pt x="10642413" y="800100"/>
                    <a:pt x="10610850" y="800100"/>
                  </a:cubicBezTo>
                  <a:lnTo>
                    <a:pt x="57150" y="800100"/>
                  </a:lnTo>
                  <a:cubicBezTo>
                    <a:pt x="25587" y="800100"/>
                    <a:pt x="0" y="774513"/>
                    <a:pt x="0" y="7429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4476750"/>
              <a:ext cx="57150" cy="80010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22045" y="46796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E6B53"/>
                  </a:solidFill>
                  <a:latin typeface="Georgia"/>
                  <a:ea typeface="Microsoft YaHei"/>
                  <a:cs typeface="Georgia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95450" y="4695825"/>
              <a:ext cx="7483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✈ 航班:MU5029 上海-巴厘岛 + MU5030 巴厘岛-上海 (东航直飞, 7/4 当日可达)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1165" y="5011102"/>
              <a:ext cx="52703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e2e 实时核实 · 套餐 D1=7/4 抵达 · 直飞约 6h · 巴厘岛旅游税 15 万印尼盾/人当地付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62000" y="5429250"/>
              <a:ext cx="10668000" cy="800100"/>
            </a:xfrm>
            <a:custGeom>
              <a:avLst/>
              <a:gdLst/>
              <a:ahLst/>
              <a:cxnLst/>
              <a:rect l="l" t="t" r="r" b="b"/>
              <a:pathLst>
                <a:path w="10668000" h="800100">
                  <a:moveTo>
                    <a:pt x="57150" y="0"/>
                  </a:moveTo>
                  <a:lnTo>
                    <a:pt x="10610850" y="0"/>
                  </a:lnTo>
                  <a:cubicBezTo>
                    <a:pt x="10642413" y="0"/>
                    <a:pt x="10668000" y="25587"/>
                    <a:pt x="10668000" y="57150"/>
                  </a:cubicBezTo>
                  <a:lnTo>
                    <a:pt x="10668000" y="742950"/>
                  </a:lnTo>
                  <a:cubicBezTo>
                    <a:pt x="10668000" y="774513"/>
                    <a:pt x="10642413" y="800100"/>
                    <a:pt x="10610850" y="800100"/>
                  </a:cubicBezTo>
                  <a:lnTo>
                    <a:pt x="57150" y="800100"/>
                  </a:lnTo>
                  <a:cubicBezTo>
                    <a:pt x="25587" y="800100"/>
                    <a:pt x="0" y="774513"/>
                    <a:pt x="0" y="7429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2000" y="5429250"/>
              <a:ext cx="57150" cy="80010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2045" y="56321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E6B53"/>
                  </a:solidFill>
                  <a:latin typeface="Georgia"/>
                  <a:ea typeface="Microsoft YaHei"/>
                  <a:cs typeface="Georgia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95450" y="5648325"/>
              <a:ext cx="65069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真实酒店:金巴兰叶子豪华别墅 (5 晚 5 钻 100 平别墅连住, 一单一团)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01165" y="5963602"/>
              <a:ext cx="4430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e2e 行程 · 5 钻泳池别墅 · 100 平一房一别墅 · 巴厘岛旅游税自理 ≈¥70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61022" y="6578441"/>
            <a:ext cx="29583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重抓 p69852382 + 4 条线比价 · 2026-06-07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P03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1" grpId="0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5878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航班交叉验证 · 重要修正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883920"/>
            <a:ext cx="646256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⚠ 7/4 当天无 HKG→SUB 直飞,实际 7/5 抵达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62000" y="1714500"/>
            <a:ext cx="10668000" cy="952500"/>
            <a:chOff x="762000" y="1714500"/>
            <a:chExt cx="10668000" cy="952500"/>
          </a:xfrm>
        </p:grpSpPr>
        <p:sp>
          <p:nvSpPr>
            <p:cNvPr id="6" name="Freeform 6"/>
            <p:cNvSpPr/>
            <p:nvPr/>
          </p:nvSpPr>
          <p:spPr>
            <a:xfrm>
              <a:off x="762000" y="1714500"/>
              <a:ext cx="10668000" cy="952500"/>
            </a:xfrm>
            <a:custGeom>
              <a:avLst/>
              <a:gdLst/>
              <a:ahLst/>
              <a:cxnLst/>
              <a:rect l="l" t="t" r="r" b="b"/>
              <a:pathLst>
                <a:path w="10668000" h="9525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876300"/>
                  </a:lnTo>
                  <a:cubicBezTo>
                    <a:pt x="10668000" y="918384"/>
                    <a:pt x="10633884" y="952500"/>
                    <a:pt x="1059180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2520" y="1931670"/>
              <a:ext cx="861322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AF6EE"/>
                  </a:solidFill>
                  <a:latin typeface="Georgia"/>
                  <a:ea typeface="Microsoft YaHei"/>
                  <a:cs typeface="Georgia"/>
                </a:rPr>
                <a:t>7/4 飞 HKG 过夜 → 7/5 14:30 CX629 → 7/5 18:15 抵达 SUB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8712" y="2355056"/>
              <a:ext cx="66819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D1 实际是抵达日(7/5)而非出发日(7/4) · 携程主接口 FlightInfoList 与 wendao 实时查 5 班次一致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6760" y="2823210"/>
            <a:ext cx="10683240" cy="3082290"/>
            <a:chOff x="746760" y="2823210"/>
            <a:chExt cx="10683240" cy="3082290"/>
          </a:xfrm>
        </p:grpSpPr>
        <p:sp>
          <p:nvSpPr>
            <p:cNvPr id="10" name="TextBox 10"/>
            <p:cNvSpPr txBox="1"/>
            <p:nvPr/>
          </p:nvSpPr>
          <p:spPr>
            <a:xfrm>
              <a:off x="746760" y="2823210"/>
              <a:ext cx="17358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两源对比 · 已交叉验证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62000" y="3143250"/>
              <a:ext cx="5143500" cy="2762250"/>
            </a:xfrm>
            <a:custGeom>
              <a:avLst/>
              <a:gdLst/>
              <a:ahLst/>
              <a:cxnLst/>
              <a:rect l="l" t="t" r="r" b="b"/>
              <a:pathLst>
                <a:path w="5143500" h="276225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2705100"/>
                  </a:lnTo>
                  <a:cubicBezTo>
                    <a:pt x="5143500" y="2736663"/>
                    <a:pt x="5117913" y="2762250"/>
                    <a:pt x="5086350" y="2762250"/>
                  </a:cubicBezTo>
                  <a:lnTo>
                    <a:pt x="57150" y="2762250"/>
                  </a:lnTo>
                  <a:cubicBezTo>
                    <a:pt x="25587" y="2762250"/>
                    <a:pt x="0" y="2736663"/>
                    <a:pt x="0" y="2705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1F4E79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3143250"/>
              <a:ext cx="5143500" cy="3810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165" y="3277552"/>
              <a:ext cx="2151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源 1: 携程主接口 FlightInfoList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0118" y="3657124"/>
              <a:ext cx="564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去程 7/4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1070" y="3903345"/>
              <a:ext cx="1625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CX365 09:30 SHA → 12:55 HKG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1070" y="4074795"/>
              <a:ext cx="15650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CX629 14:00 HKG → 18:15 SUB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2022" y="4292441"/>
              <a:ext cx="27382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注:实际为 7/4 飞 HKG,7/5 转 SUB(因 7/4 无 HKG→SUB)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0118" y="4609624"/>
              <a:ext cx="604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回程 7/10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1070" y="4855845"/>
              <a:ext cx="15350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CX782 11:25 DPS → 16:10 HKG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1070" y="5027295"/>
              <a:ext cx="1595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CX316 19:00 HKG → 22:05 SHA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1070" y="5427345"/>
              <a:ext cx="23226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套餐含税 · 单独机票 ¥4,088/人(同源)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5617845"/>
              <a:ext cx="16610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实际口径=往返 HKG 中转, 含税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286500" y="3143250"/>
              <a:ext cx="5143500" cy="2762250"/>
            </a:xfrm>
            <a:custGeom>
              <a:avLst/>
              <a:gdLst/>
              <a:ahLst/>
              <a:cxnLst/>
              <a:rect l="l" t="t" r="r" b="b"/>
              <a:pathLst>
                <a:path w="5143500" h="276225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2705100"/>
                  </a:lnTo>
                  <a:cubicBezTo>
                    <a:pt x="5143500" y="2736663"/>
                    <a:pt x="5117913" y="2762250"/>
                    <a:pt x="5086350" y="2762250"/>
                  </a:cubicBezTo>
                  <a:lnTo>
                    <a:pt x="57150" y="2762250"/>
                  </a:lnTo>
                  <a:cubicBezTo>
                    <a:pt x="25587" y="2762250"/>
                    <a:pt x="0" y="2736663"/>
                    <a:pt x="0" y="2705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3E6B5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3143250"/>
              <a:ext cx="5143500" cy="38100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3665" y="3277552"/>
              <a:ext cx="23936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源 2: wendao 实时查(2026-06-07)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3657124"/>
              <a:ext cx="2004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去程 5 班次可选(均经 HKG 过夜)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6522" y="3911441"/>
              <a:ext cx="15886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CX319 12:20 → 7/5 18:15 ¥4,088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6522" y="4082891"/>
              <a:ext cx="16161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CX367 13:20 → 7/5 18:15 ¥4,088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6522" y="4254341"/>
              <a:ext cx="16161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CX377 14:30 → 7/5 18:15 ¥4,088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6522" y="4425791"/>
              <a:ext cx="16161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CX369 17:40 → 7/5 18:15 ¥4,088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6522" y="4597241"/>
              <a:ext cx="15886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CX381 19:05 → 7/5 18:15 ¥4,088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5570" y="4855845"/>
              <a:ext cx="16925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⚠ 7/4 当天均无 HKG→SUB 直飞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6522" y="5035391"/>
              <a:ext cx="19461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CX629 是 7/5 14:30 起飞 · 需 HKG 过夜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5570" y="5427345"/>
              <a:ext cx="24864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Trip.com 验证失败(server 504),仅 2 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5570" y="5617845"/>
              <a:ext cx="34972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D1 实际时长: ~31h 含过夜(8/7/4 12:20 起飞 → 8/7/5 18:15 抵达)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49618" y="5800249"/>
            <a:ext cx="5514498" cy="571976"/>
            <a:chOff x="749618" y="5800249"/>
            <a:chExt cx="5514498" cy="571976"/>
          </a:xfrm>
        </p:grpSpPr>
        <p:sp>
          <p:nvSpPr>
            <p:cNvPr id="37" name="TextBox 37"/>
            <p:cNvSpPr txBox="1"/>
            <p:nvPr/>
          </p:nvSpPr>
          <p:spPr>
            <a:xfrm>
              <a:off x="749618" y="5800249"/>
              <a:ext cx="645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实战影响: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0570" y="5998845"/>
              <a:ext cx="55135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D1=飞机过夜日,实际 7/5 才"抵达泗水" · 行程模板的 D1 描述需客户理解(产品 7/4-7/10 含 2 段过夜)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0570" y="6189345"/>
              <a:ext cx="54835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单独机票 ¥4,088/人 · 双人往返 ¥16,352(已含税) · 比套餐 ¥17,896 便宜 ¥1,544,但无酒店/车/导游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61022" y="6578441"/>
            <a:ext cx="45315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FlightInfoList + wendao 实时 5 班次 · Trip.com 504 已标红 · 2026-06-07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P04 / 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7 日总览 · 一眼看懂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640087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7 天 16 景点 · 火山 → 海岛 · 一单一团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061085" y="3220402"/>
            <a:ext cx="10559415" cy="1430179"/>
            <a:chOff x="1061085" y="3220402"/>
            <a:chExt cx="10559415" cy="1430179"/>
          </a:xfrm>
        </p:grpSpPr>
        <p:sp>
          <p:nvSpPr>
            <p:cNvPr id="6" name="Line 6"/>
            <p:cNvSpPr/>
            <p:nvPr/>
          </p:nvSpPr>
          <p:spPr>
            <a:xfrm>
              <a:off x="1333500" y="3810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28575">
              <a:solidFill>
                <a:srgbClr val="D4C5A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61085" y="3220402"/>
              <a:ext cx="544830" cy="1430179"/>
              <a:chOff x="1061085" y="3220402"/>
              <a:chExt cx="544830" cy="1430179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123950" y="3600450"/>
                <a:ext cx="419100" cy="4191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57682" y="3753802"/>
                <a:ext cx="1516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98875" y="3220402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7/4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61085" y="4276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抵达泗水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02995" y="448294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入住酒店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596741" y="3220402"/>
              <a:ext cx="521518" cy="1430179"/>
              <a:chOff x="2596741" y="3220402"/>
              <a:chExt cx="521518" cy="1430179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2647950" y="3600450"/>
                <a:ext cx="419100" cy="419100"/>
              </a:xfrm>
              <a:prstGeom prst="ellipse">
                <a:avLst/>
              </a:prstGeom>
              <a:solidFill>
                <a:srgbClr val="3E6B5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763305" y="375380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722875" y="3220402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7/5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650093" y="4276249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瀑布群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596741" y="4482941"/>
                <a:ext cx="5215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千层+蓝棉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044077" y="3220402"/>
              <a:ext cx="674846" cy="1430179"/>
              <a:chOff x="4044077" y="3220402"/>
              <a:chExt cx="674846" cy="1430179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4171950" y="3600450"/>
                <a:ext cx="419100" cy="419100"/>
              </a:xfrm>
              <a:prstGeom prst="ellipse">
                <a:avLst/>
              </a:prstGeom>
              <a:solidFill>
                <a:srgbClr val="C0392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287305" y="375380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46875" y="3220402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7/6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044077" y="42762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布罗莫火山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120741" y="4482941"/>
                <a:ext cx="5215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日出+攀登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589734" y="3220402"/>
              <a:ext cx="631531" cy="1430179"/>
              <a:chOff x="5589734" y="3220402"/>
              <a:chExt cx="631531" cy="1430179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5695950" y="3600450"/>
                <a:ext cx="419100" cy="419100"/>
              </a:xfrm>
              <a:prstGeom prst="ellipse">
                <a:avLst/>
              </a:prstGeom>
              <a:solidFill>
                <a:srgbClr val="C0392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811305" y="375380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770875" y="3220402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7/7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633085" y="4276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伊真火山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589734" y="4482941"/>
                <a:ext cx="63153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蓝火+硫磺湖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19950" y="3220402"/>
              <a:ext cx="419100" cy="1430179"/>
              <a:chOff x="7219950" y="3220402"/>
              <a:chExt cx="419100" cy="1430179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219950" y="3600450"/>
                <a:ext cx="419100" cy="4191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335305" y="375380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D5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94875" y="3220402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7/8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222093" y="4276249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罗威纳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54002" y="4482941"/>
                <a:ext cx="350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追海豚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582727" y="3220402"/>
              <a:ext cx="741545" cy="1430179"/>
              <a:chOff x="8582727" y="3220402"/>
              <a:chExt cx="741545" cy="1430179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8743950" y="3600450"/>
                <a:ext cx="419100" cy="4191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859305" y="375380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D6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818875" y="3220402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7/9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746093" y="4276249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佩妮达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582727" y="44829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精灵坠崖+浮潜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0222242" y="3220402"/>
              <a:ext cx="510516" cy="1430179"/>
              <a:chOff x="10222242" y="3220402"/>
              <a:chExt cx="510516" cy="1430179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10267950" y="3600450"/>
                <a:ext cx="419100" cy="4191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383305" y="3753802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D7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320822" y="3220402"/>
                <a:ext cx="3133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7/10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335101" y="4276249"/>
                <a:ext cx="2847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送机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0222242" y="4482941"/>
                <a:ext cx="51051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DPS → SHA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746760" y="4156710"/>
            <a:ext cx="10968990" cy="1082040"/>
            <a:chOff x="746760" y="4156710"/>
            <a:chExt cx="10968990" cy="1082040"/>
          </a:xfrm>
        </p:grpSpPr>
        <p:sp>
          <p:nvSpPr>
            <p:cNvPr id="50" name="TextBox 50"/>
            <p:cNvSpPr txBox="1"/>
            <p:nvPr/>
          </p:nvSpPr>
          <p:spPr>
            <a:xfrm>
              <a:off x="746760" y="4156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三段主题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62000" y="4476750"/>
              <a:ext cx="3524250" cy="762000"/>
            </a:xfrm>
            <a:custGeom>
              <a:avLst/>
              <a:gdLst/>
              <a:ahLst/>
              <a:cxnLst/>
              <a:rect l="l" t="t" r="r" b="b"/>
              <a:pathLst>
                <a:path w="3524250" h="762000">
                  <a:moveTo>
                    <a:pt x="57150" y="0"/>
                  </a:moveTo>
                  <a:lnTo>
                    <a:pt x="3467100" y="0"/>
                  </a:lnTo>
                  <a:cubicBezTo>
                    <a:pt x="3498663" y="0"/>
                    <a:pt x="3524250" y="25587"/>
                    <a:pt x="3524250" y="57150"/>
                  </a:cubicBezTo>
                  <a:lnTo>
                    <a:pt x="3524250" y="704850"/>
                  </a:lnTo>
                  <a:cubicBezTo>
                    <a:pt x="3524250" y="736413"/>
                    <a:pt x="3498663" y="762000"/>
                    <a:pt x="3467100" y="762000"/>
                  </a:cubicBezTo>
                  <a:lnTo>
                    <a:pt x="57150" y="762000"/>
                  </a:lnTo>
                  <a:cubicBezTo>
                    <a:pt x="25587" y="762000"/>
                    <a:pt x="0" y="736413"/>
                    <a:pt x="0" y="704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9165" y="46491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D1-D2 · 抵达+瀑布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1070" y="495109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轻强度 · 适应气候 · 城市+自然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4476750" y="4476750"/>
              <a:ext cx="3524250" cy="762000"/>
            </a:xfrm>
            <a:custGeom>
              <a:avLst/>
              <a:gdLst/>
              <a:ahLst/>
              <a:cxnLst/>
              <a:rect l="l" t="t" r="r" b="b"/>
              <a:pathLst>
                <a:path w="3524250" h="762000">
                  <a:moveTo>
                    <a:pt x="57150" y="0"/>
                  </a:moveTo>
                  <a:lnTo>
                    <a:pt x="3467100" y="0"/>
                  </a:lnTo>
                  <a:cubicBezTo>
                    <a:pt x="3498663" y="0"/>
                    <a:pt x="3524250" y="25587"/>
                    <a:pt x="3524250" y="57150"/>
                  </a:cubicBezTo>
                  <a:lnTo>
                    <a:pt x="3524250" y="704850"/>
                  </a:lnTo>
                  <a:cubicBezTo>
                    <a:pt x="3524250" y="736413"/>
                    <a:pt x="3498663" y="762000"/>
                    <a:pt x="3467100" y="762000"/>
                  </a:cubicBezTo>
                  <a:lnTo>
                    <a:pt x="57150" y="762000"/>
                  </a:lnTo>
                  <a:cubicBezTo>
                    <a:pt x="25587" y="762000"/>
                    <a:pt x="0" y="736413"/>
                    <a:pt x="0" y="704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653915" y="4649152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D3-D4 · 双火山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55820" y="495109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高强度 · 凌晨出发 · 越野+徒步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8191500" y="4476750"/>
              <a:ext cx="3524250" cy="762000"/>
            </a:xfrm>
            <a:custGeom>
              <a:avLst/>
              <a:gdLst/>
              <a:ahLst/>
              <a:cxnLst/>
              <a:rect l="l" t="t" r="r" b="b"/>
              <a:pathLst>
                <a:path w="3524250" h="762000">
                  <a:moveTo>
                    <a:pt x="57150" y="0"/>
                  </a:moveTo>
                  <a:lnTo>
                    <a:pt x="3467100" y="0"/>
                  </a:lnTo>
                  <a:cubicBezTo>
                    <a:pt x="3498663" y="0"/>
                    <a:pt x="3524250" y="25587"/>
                    <a:pt x="3524250" y="57150"/>
                  </a:cubicBezTo>
                  <a:lnTo>
                    <a:pt x="3524250" y="704850"/>
                  </a:lnTo>
                  <a:cubicBezTo>
                    <a:pt x="3524250" y="736413"/>
                    <a:pt x="3498663" y="762000"/>
                    <a:pt x="3467100" y="762000"/>
                  </a:cubicBezTo>
                  <a:lnTo>
                    <a:pt x="57150" y="762000"/>
                  </a:lnTo>
                  <a:cubicBezTo>
                    <a:pt x="25587" y="762000"/>
                    <a:pt x="0" y="736413"/>
                    <a:pt x="0" y="704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3E6B5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368665" y="4649152"/>
              <a:ext cx="1188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D5-D7 · 海岛放松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70570" y="4951095"/>
              <a:ext cx="13730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中强度 · 海豚+浮潜+沙滩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48665" y="5411152"/>
            <a:ext cx="7225427" cy="213360"/>
            <a:chOff x="748665" y="5411152"/>
            <a:chExt cx="7225427" cy="213360"/>
          </a:xfrm>
        </p:grpSpPr>
        <p:sp>
          <p:nvSpPr>
            <p:cNvPr id="61" name="TextBox 61"/>
            <p:cNvSpPr txBox="1"/>
            <p:nvPr/>
          </p:nvSpPr>
          <p:spPr>
            <a:xfrm>
              <a:off x="748665" y="5411152"/>
              <a:ext cx="842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一句话总结: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91665" y="5411152"/>
              <a:ext cx="6082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路线为「火山逆时针」(泗水进-布罗莫-伊真-船去巴厘岛-巴厘岛出),不走回头路,行程逻辑闭环 ✓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61022" y="6578441"/>
            <a:ext cx="19406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行程模板 · 2026-06-07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P05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4 条线路 · 双人价对比 · 7/4-7/10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87636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A 最便宜 + 班期多 / B 别墅型 / C 阿雅娜 / D 限班期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749618" y="1513999"/>
            <a:ext cx="10680382" cy="3974782"/>
            <a:chOff x="749618" y="1513999"/>
            <a:chExt cx="10680382" cy="3974782"/>
          </a:xfrm>
        </p:grpSpPr>
        <p:sp>
          <p:nvSpPr>
            <p:cNvPr id="6" name="TextBox 6"/>
            <p:cNvSpPr txBox="1"/>
            <p:nvPr/>
          </p:nvSpPr>
          <p:spPr>
            <a:xfrm>
              <a:off x="749618" y="1513999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单人价 (¥) · 双人乘 2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809750"/>
              <a:ext cx="10668000" cy="3429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0118" y="19330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日期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92618" y="1933099"/>
              <a:ext cx="6254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 5钻纯玩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73868" y="1933099"/>
              <a:ext cx="6868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 别墅秘境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5118" y="1933099"/>
              <a:ext cx="823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 阿雅娜包团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36368" y="1933099"/>
              <a:ext cx="898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 A线同款联运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152650"/>
              <a:ext cx="1066800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2152650"/>
              <a:ext cx="57150" cy="47625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7260" y="2251710"/>
              <a:ext cx="878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7/4 (周六)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2022" y="24636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推荐 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85950" y="2295525"/>
              <a:ext cx="6156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4E79"/>
                  </a:solidFill>
                  <a:latin typeface="Georgia"/>
                  <a:ea typeface="SimSun"/>
                  <a:cs typeface="Georgia"/>
                </a:rPr>
                <a:t>7,543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6070" y="236029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15,086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67200" y="2295525"/>
              <a:ext cx="5631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9,184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27320" y="236029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18,368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8450" y="2295525"/>
              <a:ext cx="6261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11,793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8570" y="2360295"/>
              <a:ext cx="6949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23,586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33510" y="2327910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— 不开放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628900"/>
              <a:ext cx="10668000" cy="476250"/>
            </a:xfrm>
            <a:prstGeom prst="rect">
              <a:avLst/>
            </a:prstGeom>
            <a:solidFill>
              <a:srgbClr val="FAF6EE"/>
            </a:solidFill>
            <a:ln w="9525">
              <a:solidFill>
                <a:srgbClr val="D4C5A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7260" y="2804160"/>
              <a:ext cx="878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7/5 (周日)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87855" y="278796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8,263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46070" y="283654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16,526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69105" y="2787968"/>
              <a:ext cx="5635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10,154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27320" y="2836545"/>
              <a:ext cx="6949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20,308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0355" y="278796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12,763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08570" y="2836545"/>
              <a:ext cx="6949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25,526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33510" y="2804160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— 不开放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105150"/>
              <a:ext cx="1066800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7260" y="3280410"/>
              <a:ext cx="878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7/6 (周一)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87855" y="326421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7,993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46070" y="331279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15,986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69105" y="326421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9,634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27320" y="331279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19,268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0355" y="326421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12,243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08570" y="3312795"/>
              <a:ext cx="6949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24,486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33510" y="3280410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— 不开放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2000" y="3581400"/>
              <a:ext cx="10668000" cy="476250"/>
            </a:xfrm>
            <a:prstGeom prst="rect">
              <a:avLst/>
            </a:prstGeom>
            <a:solidFill>
              <a:srgbClr val="FAF6EE"/>
            </a:solidFill>
            <a:ln w="9525">
              <a:solidFill>
                <a:srgbClr val="D4C5A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7260" y="3756660"/>
              <a:ext cx="878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7/7 (周二)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87855" y="374046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6,598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46070" y="3789045"/>
              <a:ext cx="634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13,196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69105" y="374046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8,239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27320" y="378904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16,478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0355" y="374046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10,848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08570" y="378904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21,696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31605" y="374046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6,259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89820" y="3789045"/>
              <a:ext cx="634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12,518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2000" y="4057650"/>
              <a:ext cx="10668000" cy="476250"/>
            </a:xfrm>
            <a:prstGeom prst="rect">
              <a:avLst/>
            </a:prstGeom>
            <a:solidFill>
              <a:srgbClr val="FFF9E5"/>
            </a:solidFill>
            <a:ln w="19050">
              <a:solidFill>
                <a:srgbClr val="C0392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7260" y="4204335"/>
              <a:ext cx="10218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7/8 (周三) 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2022" y="4387691"/>
              <a:ext cx="4445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7 月最低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84045" y="418433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4E79"/>
                  </a:solidFill>
                  <a:latin typeface="Georgia"/>
                  <a:ea typeface="SimSun"/>
                  <a:cs typeface="Georgia"/>
                </a:rPr>
                <a:t>5,886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846070" y="4265295"/>
              <a:ext cx="634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11,772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269105" y="421671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7,520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27320" y="426529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15,040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50355" y="421671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10,398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08570" y="4265295"/>
              <a:ext cx="6949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20,796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27795" y="4184332"/>
              <a:ext cx="6194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392B"/>
                  </a:solidFill>
                  <a:latin typeface="Georgia"/>
                  <a:ea typeface="SimSun"/>
                  <a:cs typeface="Georgia"/>
                </a:rPr>
                <a:t>5,716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89820" y="4265295"/>
              <a:ext cx="634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11,432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62000" y="4533900"/>
              <a:ext cx="1066800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7260" y="4709160"/>
              <a:ext cx="878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7/9 (周四)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87855" y="469296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7,483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846070" y="474154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14,966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269105" y="4692968"/>
              <a:ext cx="5068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9,124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27320" y="474154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18,248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50355" y="4692968"/>
              <a:ext cx="5635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11,733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08570" y="4741545"/>
              <a:ext cx="6949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23,466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33510" y="4709160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— 不开放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62000" y="5010150"/>
              <a:ext cx="10668000" cy="476250"/>
            </a:xfrm>
            <a:prstGeom prst="rect">
              <a:avLst/>
            </a:prstGeom>
            <a:solidFill>
              <a:srgbClr val="FAF6EE"/>
            </a:solidFill>
            <a:ln w="9525">
              <a:solidFill>
                <a:srgbClr val="D4C5A0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62000" y="5010150"/>
              <a:ext cx="57150" cy="47625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37260" y="5109210"/>
              <a:ext cx="9293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7/10 (周五)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2022" y="5321141"/>
              <a:ext cx="4445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返程日 ✓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885950" y="5153025"/>
              <a:ext cx="6156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4E79"/>
                  </a:solidFill>
                  <a:latin typeface="Georgia"/>
                  <a:ea typeface="SimSun"/>
                  <a:cs typeface="Georgia"/>
                </a:rPr>
                <a:t>7,033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846070" y="521779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14,066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267200" y="5153025"/>
              <a:ext cx="6156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8,674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27320" y="5217795"/>
              <a:ext cx="664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17,348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48450" y="5153025"/>
              <a:ext cx="6261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11,283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08570" y="5217795"/>
              <a:ext cx="6949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双人 22,566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033510" y="5185410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— 不开放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559118" y="5990749"/>
            <a:ext cx="49458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★ 7/8 全场最低: A ¥5,886 / D ¥5,716 · 双人均 ¥11,432 起 (推荐不挑班期再省 ¥678)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59118" y="6181249"/>
            <a:ext cx="50433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⚠ D 限班期: 7/4-7/10 仅 7/7 ¥12,518 + 7/8 ¥11,432 + 7/11 三天可订 (非联运城市出发)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61022" y="6387941"/>
            <a:ext cx="5186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 携程 e2e 抓 4 subProductId (A=69852382, B=69960194, C=71330231, D=63621261) · 2026-06-07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P06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价格日历 · 7/1-7/12 · 已核实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768623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7/4 ¥7,543 双人 ¥17,896 · 7/6 最低 ¥7,993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370522" y="2006441"/>
            <a:ext cx="10868978" cy="3779997"/>
            <a:chOff x="370522" y="2006441"/>
            <a:chExt cx="10868978" cy="3779997"/>
          </a:xfrm>
        </p:grpSpPr>
        <p:sp>
          <p:nvSpPr>
            <p:cNvPr id="6" name="TextBox 6"/>
            <p:cNvSpPr txBox="1"/>
            <p:nvPr/>
          </p:nvSpPr>
          <p:spPr>
            <a:xfrm>
              <a:off x="370522" y="3530441"/>
              <a:ext cx="2409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单价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0522" y="2006441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¥/人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0955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2905125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10" name="Line 10"/>
            <p:cNvSpPr/>
            <p:nvPr/>
          </p:nvSpPr>
          <p:spPr>
            <a:xfrm>
              <a:off x="762000" y="371475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11" name="Line 11"/>
            <p:cNvSpPr/>
            <p:nvPr/>
          </p:nvSpPr>
          <p:spPr>
            <a:xfrm>
              <a:off x="762000" y="4524375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12" name="Line 12"/>
            <p:cNvSpPr/>
            <p:nvPr/>
          </p:nvSpPr>
          <p:spPr>
            <a:xfrm>
              <a:off x="762000" y="53340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00288" y="2054066"/>
              <a:ext cx="2959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10000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292" y="2863691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9000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292" y="3673316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8000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3292" y="4482941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7000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292" y="5292566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6000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2500" y="4000500"/>
              <a:ext cx="666750" cy="133350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62771" y="3816191"/>
              <a:ext cx="246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6148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90434" y="5427345"/>
              <a:ext cx="1908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781175" y="3886200"/>
              <a:ext cx="666750" cy="144780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77007" y="3701891"/>
              <a:ext cx="2750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7543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04108" y="54273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609850" y="3619500"/>
              <a:ext cx="666750" cy="171450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805682" y="3435191"/>
              <a:ext cx="2750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7543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32783" y="54273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438525" y="3581400"/>
              <a:ext cx="666750" cy="17526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52544" y="3388995"/>
              <a:ext cx="4387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0392B"/>
                  </a:solidFill>
                  <a:latin typeface="Consolas"/>
                  <a:ea typeface="Microsoft YaHei"/>
                  <a:cs typeface="Consolas"/>
                </a:rPr>
                <a:t>¥7,543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46891" y="54192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7/4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62362" y="5634038"/>
              <a:ext cx="2190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目标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267200" y="3905250"/>
              <a:ext cx="666750" cy="14287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63032" y="3720941"/>
              <a:ext cx="2750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8263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90133" y="54273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95875" y="4200525"/>
              <a:ext cx="666750" cy="1133475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09894" y="4008120"/>
              <a:ext cx="4387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E6B53"/>
                  </a:solidFill>
                  <a:latin typeface="Consolas"/>
                  <a:ea typeface="Microsoft YaHei"/>
                  <a:cs typeface="Consolas"/>
                </a:rPr>
                <a:t>¥7,993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04241" y="54192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7/6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42203" y="5634038"/>
              <a:ext cx="37409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7月最低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924550" y="4048125"/>
              <a:ext cx="666750" cy="1285875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0382" y="3863816"/>
              <a:ext cx="2750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6598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47483" y="54273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7/7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53225" y="3752850"/>
              <a:ext cx="666750" cy="15811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5524" y="3568541"/>
              <a:ext cx="4021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¥5,886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76158" y="54273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7/8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581900" y="3895725"/>
              <a:ext cx="666750" cy="1438275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77732" y="3711416"/>
              <a:ext cx="2750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7483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04833" y="54273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7/9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410575" y="4019550"/>
              <a:ext cx="666750" cy="13144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06407" y="3835241"/>
              <a:ext cx="2750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7033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15505" y="5427345"/>
              <a:ext cx="2568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7/10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239250" y="4210050"/>
              <a:ext cx="666750" cy="11239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35082" y="4025741"/>
              <a:ext cx="2750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6748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59182" y="5427345"/>
              <a:ext cx="2268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7/11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67925" y="4095750"/>
              <a:ext cx="666750" cy="12382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263757" y="3911441"/>
              <a:ext cx="2750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7483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72855" y="5427345"/>
              <a:ext cx="2568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7/12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49618" y="5895499"/>
            <a:ext cx="6151340" cy="476726"/>
            <a:chOff x="749618" y="5895499"/>
            <a:chExt cx="6151340" cy="476726"/>
          </a:xfrm>
        </p:grpSpPr>
        <p:sp>
          <p:nvSpPr>
            <p:cNvPr id="57" name="TextBox 57"/>
            <p:cNvSpPr txBox="1"/>
            <p:nvPr/>
          </p:nvSpPr>
          <p:spPr>
            <a:xfrm>
              <a:off x="749618" y="5895499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7/4-7/10 双人预算: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273618" y="5895499"/>
              <a:ext cx="46273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7543+8263+7993+6598+5886+7483+7033 = ¥50,803 / 7 = ¥7,258 平均 (A 线)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0570" y="6189345"/>
              <a:ext cx="41693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⚠ A 线 7/4 库存 50 充足,7/8 库存仅 5(抢空风险!),7/10 库存 49(★ 班期保证)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561022" y="6578441"/>
            <a:ext cx="30518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priceCalendar.dailyMinPrices · 2026-06-07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P07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7 月整月趋势 · 已核实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1804472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7/8 ¥5,886 整月最便宜 (库存 5!) · 7/10 ¥7,033 班期保证 · 8/28 ¥5,141 全年最低 · 7/4 ¥7,543 你目标日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370522" y="2006441"/>
            <a:ext cx="10868978" cy="3596640"/>
            <a:chOff x="370522" y="2006441"/>
            <a:chExt cx="10868978" cy="3596640"/>
          </a:xfrm>
        </p:grpSpPr>
        <p:sp>
          <p:nvSpPr>
            <p:cNvPr id="6" name="TextBox 6"/>
            <p:cNvSpPr txBox="1"/>
            <p:nvPr/>
          </p:nvSpPr>
          <p:spPr>
            <a:xfrm>
              <a:off x="370522" y="2006441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¥/人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20955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8" name="Line 8"/>
            <p:cNvSpPr/>
            <p:nvPr/>
          </p:nvSpPr>
          <p:spPr>
            <a:xfrm>
              <a:off x="762000" y="2905125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371475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10" name="Line 10"/>
            <p:cNvSpPr/>
            <p:nvPr/>
          </p:nvSpPr>
          <p:spPr>
            <a:xfrm>
              <a:off x="762000" y="4524375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11" name="Line 11"/>
            <p:cNvSpPr/>
            <p:nvPr/>
          </p:nvSpPr>
          <p:spPr>
            <a:xfrm>
              <a:off x="762000" y="53340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3292" y="2054066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9500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292" y="2863691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8500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292" y="3673316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7500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292" y="4482941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6500</a:t>
              </a:r>
            </a:p>
          </p:txBody>
        </p:sp>
        <p:sp>
          <p:nvSpPr>
            <p:cNvPr id="16" name="Polyline 16"/>
            <p:cNvSpPr/>
            <p:nvPr/>
          </p:nvSpPr>
          <p:spPr>
            <a:xfrm>
              <a:off x="1285875" y="3581400"/>
              <a:ext cx="9115425" cy="628650"/>
            </a:xfrm>
            <a:custGeom>
              <a:avLst/>
              <a:gdLst/>
              <a:ahLst/>
              <a:cxnLst/>
              <a:rect l="l" t="t" r="r" b="b"/>
              <a:pathLst>
                <a:path w="9115425" h="628650">
                  <a:moveTo>
                    <a:pt x="0" y="419100"/>
                  </a:moveTo>
                  <a:lnTo>
                    <a:pt x="828675" y="304800"/>
                  </a:lnTo>
                  <a:lnTo>
                    <a:pt x="1657350" y="38100"/>
                  </a:lnTo>
                  <a:lnTo>
                    <a:pt x="2486025" y="0"/>
                  </a:lnTo>
                  <a:lnTo>
                    <a:pt x="3314700" y="323850"/>
                  </a:lnTo>
                  <a:lnTo>
                    <a:pt x="4143375" y="619125"/>
                  </a:lnTo>
                  <a:lnTo>
                    <a:pt x="4972050" y="466725"/>
                  </a:lnTo>
                  <a:lnTo>
                    <a:pt x="5800725" y="171450"/>
                  </a:lnTo>
                  <a:lnTo>
                    <a:pt x="6629400" y="314325"/>
                  </a:lnTo>
                  <a:lnTo>
                    <a:pt x="7458075" y="438150"/>
                  </a:lnTo>
                  <a:lnTo>
                    <a:pt x="8286750" y="628650"/>
                  </a:lnTo>
                  <a:lnTo>
                    <a:pt x="9115425" y="514350"/>
                  </a:lnTo>
                </a:path>
              </a:pathLst>
            </a:custGeom>
            <a:noFill/>
            <a:ln w="28575" cap="rnd">
              <a:solidFill>
                <a:srgbClr val="1F4E79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238250" y="3524250"/>
              <a:ext cx="9210675" cy="742950"/>
              <a:chOff x="1238250" y="3524250"/>
              <a:chExt cx="9210675" cy="74295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238250" y="3952875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2066925" y="3838575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895600" y="3571875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3714750" y="3524250"/>
                <a:ext cx="114300" cy="114300"/>
              </a:xfrm>
              <a:prstGeom prst="ellipse">
                <a:avLst/>
              </a:prstGeom>
              <a:solidFill>
                <a:srgbClr val="C0392B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552950" y="3857625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5362575" y="4133850"/>
                <a:ext cx="133350" cy="133350"/>
              </a:xfrm>
              <a:prstGeom prst="ellipse">
                <a:avLst/>
              </a:prstGeom>
              <a:solidFill>
                <a:srgbClr val="3E6B53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210300" y="4000500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7038975" y="3705225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7867650" y="3848100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8696325" y="3971925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9525000" y="4162425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10353675" y="4048125"/>
                <a:ext cx="95250" cy="9525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066453" y="4006691"/>
              <a:ext cx="72559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7/8 ¥5,886 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58197" y="3387566"/>
              <a:ext cx="6274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7/4 ¥7,543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198388" y="5435441"/>
              <a:ext cx="9320653" cy="167640"/>
              <a:chOff x="1198388" y="5435441"/>
              <a:chExt cx="9320653" cy="167640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1198388" y="5435441"/>
                <a:ext cx="17497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7/1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013311" y="5435441"/>
                <a:ext cx="2024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841986" y="5435441"/>
                <a:ext cx="2024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666123" y="5435441"/>
                <a:ext cx="21155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7/4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499336" y="5435441"/>
                <a:ext cx="2024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323473" y="5435441"/>
                <a:ext cx="21155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7/6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156686" y="5435441"/>
                <a:ext cx="2024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7/7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985361" y="5435441"/>
                <a:ext cx="2024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7/8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814036" y="5435441"/>
                <a:ext cx="2024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7/9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626209" y="5435441"/>
                <a:ext cx="2354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7/10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468636" y="5435441"/>
                <a:ext cx="2079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7/11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283559" y="5435441"/>
                <a:ext cx="2354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7/12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49618" y="5895499"/>
            <a:ext cx="6702647" cy="457676"/>
            <a:chOff x="749618" y="5895499"/>
            <a:chExt cx="6702647" cy="457676"/>
          </a:xfrm>
        </p:grpSpPr>
        <p:sp>
          <p:nvSpPr>
            <p:cNvPr id="46" name="TextBox 46"/>
            <p:cNvSpPr txBox="1"/>
            <p:nvPr/>
          </p:nvSpPr>
          <p:spPr>
            <a:xfrm>
              <a:off x="749618" y="5895499"/>
              <a:ext cx="1055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全年最低价参照: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73618" y="5895499"/>
              <a:ext cx="48288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7/8 ¥5,886 ★ · 8/6 ¥7,557 · 8/31 ¥6,892 · 9/25 中秋 ¥9,147 · 6/19 端午 ¥9,551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0570" y="6170295"/>
              <a:ext cx="67016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若 7/4 不行: 7/8 ¥5,886 (库存 5 抢空风险), 7/10 ¥7,033 (★ 班期保证 + 库存 49), 8/28 ¥5,141 (全年最低 + A 线库存充足)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61022" y="6578441"/>
            <a:ext cx="22322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priceCalendar · 2026-06-07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P08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真实开团班期 · 重要!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672221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7/4-7/10 暑期限库存 · 必须先咨询管家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62000" y="1714500"/>
            <a:ext cx="10668000" cy="1143000"/>
            <a:chOff x="762000" y="1714500"/>
            <a:chExt cx="10668000" cy="1143000"/>
          </a:xfrm>
        </p:grpSpPr>
        <p:sp>
          <p:nvSpPr>
            <p:cNvPr id="6" name="Freeform 6"/>
            <p:cNvSpPr/>
            <p:nvPr/>
          </p:nvSpPr>
          <p:spPr>
            <a:xfrm>
              <a:off x="762000" y="1714500"/>
              <a:ext cx="10668000" cy="1143000"/>
            </a:xfrm>
            <a:custGeom>
              <a:avLst/>
              <a:gdLst/>
              <a:ahLst/>
              <a:cxnLst/>
              <a:rect l="l" t="t" r="r" b="b"/>
              <a:pathLst>
                <a:path w="10668000" h="11430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1066800"/>
                  </a:lnTo>
                  <a:cubicBezTo>
                    <a:pt x="10668000" y="1108884"/>
                    <a:pt x="10633884" y="1143000"/>
                    <a:pt x="10591800" y="1143000"/>
                  </a:cubicBezTo>
                  <a:lnTo>
                    <a:pt x="76200" y="1143000"/>
                  </a:lnTo>
                  <a:cubicBezTo>
                    <a:pt x="34116" y="1143000"/>
                    <a:pt x="0" y="1108884"/>
                    <a:pt x="0" y="1066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2520" y="1931670"/>
              <a:ext cx="528641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AF6EE"/>
                  </a:solidFill>
                  <a:latin typeface="Georgia"/>
                  <a:ea typeface="Microsoft YaHei"/>
                  <a:cs typeface="Georgia"/>
                </a:rPr>
                <a:t>7/4-7/10 整周 showGroup = False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5855" y="2426018"/>
              <a:ext cx="54529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日历价已生成,库存未开 · 7 月暑期限管,需点「咨询管家」人工下单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42950" y="3076575"/>
            <a:ext cx="10687050" cy="1971675"/>
            <a:chOff x="742950" y="3076575"/>
            <a:chExt cx="10687050" cy="1971675"/>
          </a:xfrm>
        </p:grpSpPr>
        <p:sp>
          <p:nvSpPr>
            <p:cNvPr id="10" name="TextBox 10"/>
            <p:cNvSpPr txBox="1"/>
            <p:nvPr/>
          </p:nvSpPr>
          <p:spPr>
            <a:xfrm>
              <a:off x="742950" y="3076575"/>
              <a:ext cx="21698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已确认开团的 2 个班期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429000"/>
              <a:ext cx="10668000" cy="47625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9665" y="36204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班期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44165" y="36204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节日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58665" y="36204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单价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2665" y="36204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双人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06665" y="3620452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showGroup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21165" y="36204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状态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905250"/>
              <a:ext cx="10668000" cy="571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27760" y="4137660"/>
              <a:ext cx="9125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2026-06-19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44165" y="41538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端午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56760" y="4137660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¥9,551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80760" y="4137660"/>
              <a:ext cx="5933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¥19,102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06665" y="415385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E6B53"/>
                  </a:solidFill>
                  <a:latin typeface="Consolas"/>
                  <a:ea typeface="Microsoft YaHei"/>
                  <a:cs typeface="Consolas"/>
                </a:rPr>
                <a:t>true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21165" y="4153852"/>
              <a:ext cx="739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可直接订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476750"/>
              <a:ext cx="10668000" cy="571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27760" y="4709160"/>
              <a:ext cx="9545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2026-09-25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44165" y="47253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中秋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6760" y="4709160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¥9,147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80760" y="470916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¥18,294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06665" y="472535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E6B53"/>
                  </a:solidFill>
                  <a:latin typeface="Consolas"/>
                  <a:ea typeface="Microsoft YaHei"/>
                  <a:cs typeface="Consolas"/>
                </a:rPr>
                <a:t>true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21165" y="4725352"/>
              <a:ext cx="739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可直接订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5524500"/>
            <a:ext cx="10668000" cy="788194"/>
            <a:chOff x="762000" y="5524500"/>
            <a:chExt cx="10668000" cy="788194"/>
          </a:xfrm>
        </p:grpSpPr>
        <p:sp>
          <p:nvSpPr>
            <p:cNvPr id="33" name="Freeform 33"/>
            <p:cNvSpPr/>
            <p:nvPr/>
          </p:nvSpPr>
          <p:spPr>
            <a:xfrm>
              <a:off x="762000" y="5524500"/>
              <a:ext cx="10668000" cy="762000"/>
            </a:xfrm>
            <a:custGeom>
              <a:avLst/>
              <a:gdLst/>
              <a:ahLst/>
              <a:cxnLst/>
              <a:rect l="l" t="t" r="r" b="b"/>
              <a:pathLst>
                <a:path w="10668000" h="762000">
                  <a:moveTo>
                    <a:pt x="57150" y="0"/>
                  </a:moveTo>
                  <a:lnTo>
                    <a:pt x="10610850" y="0"/>
                  </a:lnTo>
                  <a:cubicBezTo>
                    <a:pt x="10642413" y="0"/>
                    <a:pt x="10668000" y="25587"/>
                    <a:pt x="10668000" y="57150"/>
                  </a:cubicBezTo>
                  <a:lnTo>
                    <a:pt x="10668000" y="704850"/>
                  </a:lnTo>
                  <a:cubicBezTo>
                    <a:pt x="10668000" y="736413"/>
                    <a:pt x="10642413" y="762000"/>
                    <a:pt x="10610850" y="762000"/>
                  </a:cubicBezTo>
                  <a:lnTo>
                    <a:pt x="57150" y="762000"/>
                  </a:lnTo>
                  <a:cubicBezTo>
                    <a:pt x="25587" y="762000"/>
                    <a:pt x="0" y="736413"/>
                    <a:pt x="0" y="704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0392B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5524500"/>
              <a:ext cx="57150" cy="7620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2510" y="5680710"/>
              <a:ext cx="14502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7/4-7/10 决策路径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5368" y="5943124"/>
              <a:ext cx="39707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选项 A:点咨询管家,确认 7/4 库存(¥17,896 双人) → 等候 1-3 天回复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5368" y="6114574"/>
              <a:ext cx="52449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选项 B:改 7/6 出发(¥15,786 双人,节省 ¥2,110) · 选项 C:改 6/19 端午出发(¥19,102 双人)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61022" y="6578441"/>
            <a:ext cx="28593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priceCalendar.showGroup · 2026-06-07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P09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决策 KPI · 4 线 1 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607953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A / B / C / D · 7/4 双人预算 · 推荐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381000" y="1714500"/>
            <a:ext cx="12001500" cy="3238500"/>
            <a:chOff x="381000" y="1714500"/>
            <a:chExt cx="12001500" cy="3238500"/>
          </a:xfrm>
        </p:grpSpPr>
        <p:sp>
          <p:nvSpPr>
            <p:cNvPr id="6" name="Freeform 6"/>
            <p:cNvSpPr/>
            <p:nvPr/>
          </p:nvSpPr>
          <p:spPr>
            <a:xfrm>
              <a:off x="381000" y="1714500"/>
              <a:ext cx="2857500" cy="1524000"/>
            </a:xfrm>
            <a:custGeom>
              <a:avLst/>
              <a:gdLst/>
              <a:ahLst/>
              <a:cxnLst/>
              <a:rect l="l" t="t" r="r" b="b"/>
              <a:pathLst>
                <a:path w="2857500" h="1524000">
                  <a:moveTo>
                    <a:pt x="57150" y="0"/>
                  </a:moveTo>
                  <a:lnTo>
                    <a:pt x="2800350" y="0"/>
                  </a:lnTo>
                  <a:cubicBezTo>
                    <a:pt x="2831913" y="0"/>
                    <a:pt x="2857500" y="25587"/>
                    <a:pt x="2857500" y="57150"/>
                  </a:cubicBezTo>
                  <a:lnTo>
                    <a:pt x="2857500" y="1466850"/>
                  </a:lnTo>
                  <a:cubicBezTo>
                    <a:pt x="2857500" y="1498413"/>
                    <a:pt x="2831913" y="1524000"/>
                    <a:pt x="2800350" y="1524000"/>
                  </a:cubicBezTo>
                  <a:lnTo>
                    <a:pt x="57150" y="1524000"/>
                  </a:lnTo>
                  <a:cubicBezTo>
                    <a:pt x="25587" y="1524000"/>
                    <a:pt x="0" y="1498413"/>
                    <a:pt x="0" y="1466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F4E7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714500"/>
              <a:ext cx="2857500" cy="3048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1015" y="1810702"/>
              <a:ext cx="1033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 线 · 5 钻纯玩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3872" y="2158841"/>
              <a:ext cx="4555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7/4 单人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0060" y="2375535"/>
              <a:ext cx="13161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4E79"/>
                  </a:solidFill>
                  <a:latin typeface="Georgia"/>
                  <a:ea typeface="SimSun"/>
                  <a:cs typeface="Georgia"/>
                </a:rPr>
                <a:t>¥7,543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1968" y="2799874"/>
              <a:ext cx="791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双人 ¥15,086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3872" y="30351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★ 班期全 + 性价比高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429000" y="1714500"/>
              <a:ext cx="2857500" cy="1524000"/>
            </a:xfrm>
            <a:custGeom>
              <a:avLst/>
              <a:gdLst/>
              <a:ahLst/>
              <a:cxnLst/>
              <a:rect l="l" t="t" r="r" b="b"/>
              <a:pathLst>
                <a:path w="2857500" h="1524000">
                  <a:moveTo>
                    <a:pt x="57150" y="0"/>
                  </a:moveTo>
                  <a:lnTo>
                    <a:pt x="2800350" y="0"/>
                  </a:lnTo>
                  <a:cubicBezTo>
                    <a:pt x="2831913" y="0"/>
                    <a:pt x="2857500" y="25587"/>
                    <a:pt x="2857500" y="57150"/>
                  </a:cubicBezTo>
                  <a:lnTo>
                    <a:pt x="2857500" y="1466850"/>
                  </a:lnTo>
                  <a:cubicBezTo>
                    <a:pt x="2857500" y="1498413"/>
                    <a:pt x="2831913" y="1524000"/>
                    <a:pt x="2800350" y="1524000"/>
                  </a:cubicBezTo>
                  <a:lnTo>
                    <a:pt x="57150" y="1524000"/>
                  </a:lnTo>
                  <a:cubicBezTo>
                    <a:pt x="25587" y="1524000"/>
                    <a:pt x="0" y="1498413"/>
                    <a:pt x="0" y="1466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714500"/>
              <a:ext cx="2857500" cy="30480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49015" y="18107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 线 · 别墅秘境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1872" y="2158841"/>
              <a:ext cx="4555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7/4 单人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28060" y="2375535"/>
              <a:ext cx="12216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¥9,184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49968" y="2799874"/>
              <a:ext cx="791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双人 ¥18,368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1872" y="3035141"/>
              <a:ext cx="11540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+ ¥3,282 4 晚海边别墅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477000" y="1714500"/>
              <a:ext cx="2857500" cy="1524000"/>
            </a:xfrm>
            <a:custGeom>
              <a:avLst/>
              <a:gdLst/>
              <a:ahLst/>
              <a:cxnLst/>
              <a:rect l="l" t="t" r="r" b="b"/>
              <a:pathLst>
                <a:path w="2857500" h="1524000">
                  <a:moveTo>
                    <a:pt x="57150" y="0"/>
                  </a:moveTo>
                  <a:lnTo>
                    <a:pt x="2800350" y="0"/>
                  </a:lnTo>
                  <a:cubicBezTo>
                    <a:pt x="2831913" y="0"/>
                    <a:pt x="2857500" y="25587"/>
                    <a:pt x="2857500" y="57150"/>
                  </a:cubicBezTo>
                  <a:lnTo>
                    <a:pt x="2857500" y="1466850"/>
                  </a:lnTo>
                  <a:cubicBezTo>
                    <a:pt x="2857500" y="1498413"/>
                    <a:pt x="2831913" y="1524000"/>
                    <a:pt x="2800350" y="1524000"/>
                  </a:cubicBezTo>
                  <a:lnTo>
                    <a:pt x="57150" y="1524000"/>
                  </a:lnTo>
                  <a:cubicBezTo>
                    <a:pt x="25587" y="1524000"/>
                    <a:pt x="0" y="1498413"/>
                    <a:pt x="0" y="1466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7000" y="1714500"/>
              <a:ext cx="2857500" cy="3048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97015" y="18107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 线 · 阿雅娜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99872" y="2158841"/>
              <a:ext cx="4555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7/4 单人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76060" y="2375535"/>
              <a:ext cx="13350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A1A"/>
                  </a:solidFill>
                  <a:latin typeface="Georgia"/>
                  <a:ea typeface="SimSun"/>
                  <a:cs typeface="Georgia"/>
                </a:rPr>
                <a:t>¥11,793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7968" y="27998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双人 ¥23,586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99872" y="3035141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+ ¥8,500 2 晚阿雅娜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9525000" y="1714500"/>
              <a:ext cx="2857500" cy="1524000"/>
            </a:xfrm>
            <a:custGeom>
              <a:avLst/>
              <a:gdLst/>
              <a:ahLst/>
              <a:cxnLst/>
              <a:rect l="l" t="t" r="r" b="b"/>
              <a:pathLst>
                <a:path w="2857500" h="1524000">
                  <a:moveTo>
                    <a:pt x="57150" y="0"/>
                  </a:moveTo>
                  <a:lnTo>
                    <a:pt x="2800350" y="0"/>
                  </a:lnTo>
                  <a:cubicBezTo>
                    <a:pt x="2831913" y="0"/>
                    <a:pt x="2857500" y="25587"/>
                    <a:pt x="2857500" y="57150"/>
                  </a:cubicBezTo>
                  <a:lnTo>
                    <a:pt x="2857500" y="1466850"/>
                  </a:lnTo>
                  <a:cubicBezTo>
                    <a:pt x="2857500" y="1498413"/>
                    <a:pt x="2831913" y="1524000"/>
                    <a:pt x="2800350" y="1524000"/>
                  </a:cubicBezTo>
                  <a:lnTo>
                    <a:pt x="57150" y="1524000"/>
                  </a:lnTo>
                  <a:cubicBezTo>
                    <a:pt x="25587" y="1524000"/>
                    <a:pt x="0" y="1498413"/>
                    <a:pt x="0" y="1466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525000" y="1714500"/>
              <a:ext cx="2857500" cy="3048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645015" y="18107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 线 · 联运同款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47872" y="2158841"/>
              <a:ext cx="4555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7/4 单人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24060" y="2375535"/>
              <a:ext cx="152406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5C5C5C"/>
                  </a:solidFill>
                  <a:latin typeface="Georgia"/>
                  <a:ea typeface="SimSun"/>
                  <a:cs typeface="Georgia"/>
                </a:rPr>
                <a:t>— 不开放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45968" y="2799874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仅 7/7 7/8 7/11 三天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47872" y="3035141"/>
              <a:ext cx="9505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⚠ 7/8 双人 ¥11,432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381000" y="3429000"/>
              <a:ext cx="12001500" cy="1524000"/>
            </a:xfrm>
            <a:custGeom>
              <a:avLst/>
              <a:gdLst/>
              <a:ahLst/>
              <a:cxnLst/>
              <a:rect l="l" t="t" r="r" b="b"/>
              <a:pathLst>
                <a:path w="12001500" h="1524000">
                  <a:moveTo>
                    <a:pt x="57150" y="0"/>
                  </a:moveTo>
                  <a:lnTo>
                    <a:pt x="11944350" y="0"/>
                  </a:lnTo>
                  <a:cubicBezTo>
                    <a:pt x="11975913" y="0"/>
                    <a:pt x="12001500" y="25587"/>
                    <a:pt x="12001500" y="57150"/>
                  </a:cubicBezTo>
                  <a:lnTo>
                    <a:pt x="12001500" y="1466850"/>
                  </a:lnTo>
                  <a:cubicBezTo>
                    <a:pt x="12001500" y="1498413"/>
                    <a:pt x="11975913" y="1524000"/>
                    <a:pt x="11944350" y="1524000"/>
                  </a:cubicBezTo>
                  <a:lnTo>
                    <a:pt x="57150" y="1524000"/>
                  </a:lnTo>
                  <a:cubicBezTo>
                    <a:pt x="25587" y="1524000"/>
                    <a:pt x="0" y="1498413"/>
                    <a:pt x="0" y="1466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8165" y="3658552"/>
              <a:ext cx="22459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RECOMMENDATION · 双人 7/4-7/10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4830" y="3964305"/>
              <a:ext cx="539010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AF6EE"/>
                  </a:solidFill>
                  <a:latin typeface="Georgia"/>
                  <a:ea typeface="SimSun"/>
                  <a:cs typeface="Georgia"/>
                </a:rPr>
                <a:t>推荐 A 线 7/4-7/10 · ¥15,086 (库存 50)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8165" y="4401502"/>
              <a:ext cx="60474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次选 A 7/10 ¥14,066 (班期保证) · 极省钱 D 7/8 ¥11,432 (限 5 库存) · 蜜月选 C 阿雅娜 ¥23,586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1022" y="4673441"/>
              <a:ext cx="329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AF6EE">
                      <a:alphaMod val="70000"/>
                    </a:srgbClr>
                  </a:solidFill>
                  <a:latin typeface="Segoe UI"/>
                  <a:ea typeface="Microsoft YaHei"/>
                  <a:cs typeface="Segoe UI"/>
                </a:rPr>
                <a:t>数据: 携程 e2e 抓 4 subProductId · 2026-06-07 · 决策分 8.5/10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61022" y="6578441"/>
            <a:ext cx="28813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 携程 e2e 重抓 p69852382 + 4 线比价 · 2026-06-07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1797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P10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7 日路线图 · 闭环验证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753501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上海 → 泗水 → 布罗莫 → 伊真 → 巴厘岛 → 上海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322070" y="2476500"/>
            <a:ext cx="3806428" cy="3793331"/>
            <a:chOff x="1322070" y="2476500"/>
            <a:chExt cx="3806428" cy="3793331"/>
          </a:xfrm>
        </p:grpSpPr>
        <p:sp>
          <p:nvSpPr>
            <p:cNvPr id="6" name="Freeform 6"/>
            <p:cNvSpPr/>
            <p:nvPr/>
          </p:nvSpPr>
          <p:spPr>
            <a:xfrm>
              <a:off x="1587500" y="2476500"/>
              <a:ext cx="2921000" cy="2286000"/>
            </a:xfrm>
            <a:custGeom>
              <a:avLst/>
              <a:gdLst/>
              <a:ahLst/>
              <a:cxnLst/>
              <a:rect l="l" t="t" r="r" b="b"/>
              <a:pathLst>
                <a:path w="2921000" h="2286000">
                  <a:moveTo>
                    <a:pt x="127000" y="190500"/>
                  </a:moveTo>
                  <a:cubicBezTo>
                    <a:pt x="444500" y="0"/>
                    <a:pt x="825500" y="0"/>
                    <a:pt x="1270000" y="190500"/>
                  </a:cubicBezTo>
                  <a:lnTo>
                    <a:pt x="2508250" y="571500"/>
                  </a:lnTo>
                  <a:cubicBezTo>
                    <a:pt x="2825750" y="952500"/>
                    <a:pt x="2921000" y="1397000"/>
                    <a:pt x="2794000" y="1905000"/>
                  </a:cubicBezTo>
                  <a:lnTo>
                    <a:pt x="1841500" y="2286000"/>
                  </a:lnTo>
                  <a:cubicBezTo>
                    <a:pt x="1460500" y="2222500"/>
                    <a:pt x="1143000" y="2095500"/>
                    <a:pt x="889000" y="1905000"/>
                  </a:cubicBezTo>
                  <a:lnTo>
                    <a:pt x="127000" y="1143000"/>
                  </a:lnTo>
                  <a:cubicBezTo>
                    <a:pt x="0" y="762000"/>
                    <a:pt x="0" y="444500"/>
                    <a:pt x="127000" y="190500"/>
                  </a:cubicBezTo>
                  <a:close/>
                </a:path>
              </a:pathLst>
            </a:custGeom>
            <a:solidFill>
              <a:srgbClr val="E8D9B5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23637" y="350615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爪哇岛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3810000" y="4857750"/>
              <a:ext cx="1143000" cy="1143000"/>
            </a:xfrm>
            <a:prstGeom prst="ellipse">
              <a:avLst/>
            </a:prstGeom>
            <a:solidFill>
              <a:srgbClr val="E8D9B5"/>
            </a:solidFill>
            <a:ln w="14288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147637" y="53635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巴厘岛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2070" y="5141595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爪哇海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000250" y="3333750"/>
              <a:ext cx="2381250" cy="1619250"/>
            </a:xfrm>
            <a:custGeom>
              <a:avLst/>
              <a:gdLst/>
              <a:ahLst/>
              <a:cxnLst/>
              <a:rect l="l" t="t" r="r" b="b"/>
              <a:pathLst>
                <a:path w="2381250" h="1619250">
                  <a:moveTo>
                    <a:pt x="0" y="0"/>
                  </a:moveTo>
                  <a:cubicBezTo>
                    <a:pt x="444500" y="0"/>
                    <a:pt x="857250" y="0"/>
                    <a:pt x="1238250" y="0"/>
                  </a:cubicBezTo>
                  <a:lnTo>
                    <a:pt x="2095500" y="0"/>
                  </a:lnTo>
                  <a:cubicBezTo>
                    <a:pt x="2159000" y="635000"/>
                    <a:pt x="2254250" y="1174750"/>
                    <a:pt x="2381250" y="1619250"/>
                  </a:cubicBezTo>
                </a:path>
              </a:pathLst>
            </a:custGeom>
            <a:noFill/>
            <a:ln w="28575">
              <a:solidFill>
                <a:srgbClr val="C0392B"/>
              </a:solidFill>
              <a:prstDash val="lgDash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2247900" y="3200400"/>
              <a:ext cx="2880598" cy="3069431"/>
              <a:chOff x="2247900" y="3200400"/>
              <a:chExt cx="2880598" cy="3069431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247900" y="3200400"/>
                <a:ext cx="266700" cy="2667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321679" y="3292316"/>
                <a:ext cx="11914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260759" y="3530441"/>
                <a:ext cx="2409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泗水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2914650" y="3200400"/>
                <a:ext cx="266700" cy="266700"/>
              </a:xfrm>
              <a:prstGeom prst="ellipse">
                <a:avLst/>
              </a:prstGeom>
              <a:solidFill>
                <a:srgbClr val="3E6B53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910457" y="3292316"/>
                <a:ext cx="2750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D2-3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872502" y="3530441"/>
                <a:ext cx="350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布罗莫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3581400" y="3200400"/>
                <a:ext cx="266700" cy="266700"/>
              </a:xfrm>
              <a:prstGeom prst="ellipse">
                <a:avLst/>
              </a:prstGeom>
              <a:solidFill>
                <a:srgbClr val="C0392B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640740" y="3292316"/>
                <a:ext cx="14802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D4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594259" y="3530441"/>
                <a:ext cx="2409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伊真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082415" y="4172902"/>
                <a:ext cx="1036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⛴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843242" y="4482941"/>
                <a:ext cx="50501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D4夜 船去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4248150" y="4914900"/>
                <a:ext cx="266700" cy="2667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307490" y="5006816"/>
                <a:ext cx="14802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206002" y="5244941"/>
                <a:ext cx="350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罗威纳</a:t>
                </a:r>
              </a:p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4819650" y="5486400"/>
                <a:ext cx="266700" cy="266700"/>
              </a:xfrm>
              <a:prstGeom prst="ellipse">
                <a:avLst/>
              </a:prstGeom>
              <a:solidFill>
                <a:srgbClr val="3E6B53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878990" y="5578316"/>
                <a:ext cx="14802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D6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777502" y="5816441"/>
                <a:ext cx="350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佩妮达</a:t>
                </a:r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4248150" y="5676900"/>
                <a:ext cx="266700" cy="2667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249732" y="5768816"/>
                <a:ext cx="26353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D6夜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261009" y="6006941"/>
                <a:ext cx="2409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库塔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3676650" y="5772150"/>
                <a:ext cx="266700" cy="2667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735990" y="5864066"/>
                <a:ext cx="14802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AF6EE"/>
                    </a:solidFill>
                    <a:latin typeface="Georgia"/>
                    <a:ea typeface="Microsoft YaHei"/>
                    <a:cs typeface="Georgia"/>
                  </a:rPr>
                  <a:t>D7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582245" y="6102191"/>
                <a:ext cx="45550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DPS 送机</a:t>
                </a:r>
              </a:p>
            </p:txBody>
          </p:sp>
        </p:grpSp>
        <p:sp>
          <p:nvSpPr>
            <p:cNvPr id="36" name="Line 36"/>
            <p:cNvSpPr/>
            <p:nvPr/>
          </p:nvSpPr>
          <p:spPr>
            <a:xfrm>
              <a:off x="2533650" y="3333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C0392B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200400" y="3333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C0392B"/>
              </a:solidFill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6096000" y="1905000"/>
            <a:ext cx="5334000" cy="4000500"/>
            <a:chOff x="6096000" y="1905000"/>
            <a:chExt cx="5334000" cy="4000500"/>
          </a:xfrm>
        </p:grpSpPr>
        <p:sp>
          <p:nvSpPr>
            <p:cNvPr id="39" name="Freeform 39"/>
            <p:cNvSpPr/>
            <p:nvPr/>
          </p:nvSpPr>
          <p:spPr>
            <a:xfrm>
              <a:off x="6096000" y="1905000"/>
              <a:ext cx="5334000" cy="4000500"/>
            </a:xfrm>
            <a:custGeom>
              <a:avLst/>
              <a:gdLst/>
              <a:ahLst/>
              <a:cxnLst/>
              <a:rect l="l" t="t" r="r" b="b"/>
              <a:pathLst>
                <a:path w="5334000" h="40005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3943350"/>
                  </a:lnTo>
                  <a:cubicBezTo>
                    <a:pt x="5334000" y="3974913"/>
                    <a:pt x="5308413" y="4000500"/>
                    <a:pt x="5276850" y="4000500"/>
                  </a:cubicBezTo>
                  <a:lnTo>
                    <a:pt x="57150" y="4000500"/>
                  </a:lnTo>
                  <a:cubicBezTo>
                    <a:pt x="25587" y="4000500"/>
                    <a:pt x="0" y="3974913"/>
                    <a:pt x="0" y="3943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71260" y="2156460"/>
              <a:ext cx="13998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总距离 &amp; 时间预算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286500" y="2476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74118" y="2704624"/>
              <a:ext cx="1168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D1 上海→泗水(飞行)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51358" y="2704624"/>
              <a:ext cx="7005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~7h 含中转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4118" y="3085624"/>
              <a:ext cx="16629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D2 泗水→瀑布群→布罗莫(车)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01864" y="3085624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~4h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74118" y="3466624"/>
              <a:ext cx="1331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D3 布罗莫→外南梦(车)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01864" y="3466624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~5h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74118" y="38476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D4 伊真→外南梦码头→船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51358" y="3847624"/>
              <a:ext cx="7005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~3h + 船 1h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74118" y="4228624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D5 罗威纳追海豚→酒店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30880" y="4228624"/>
              <a:ext cx="7210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~2h 早 5 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74118" y="4609624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D6 佩妮达一日游→库塔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12791" y="4609624"/>
              <a:ext cx="639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~5h 车+船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74118" y="4990624"/>
              <a:ext cx="1051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D7 库塔→DPS 机场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83437" y="4990624"/>
              <a:ext cx="4684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~30min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286500" y="5334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73165" y="5506402"/>
              <a:ext cx="6956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逻辑闭环: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26618" y="5514499"/>
              <a:ext cx="27681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不走回头路,车程逐日缩短 ✓ 火山→海岛节奏对 ✓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61022" y="6578441"/>
            <a:ext cx="26942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插画位 · 地图轮廓为示意图 · 实际位置以携程行程为准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045476" y="6578441"/>
            <a:ext cx="3950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P11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8" grpId="0"/>
      <p:bldP spid="59" grpId="0"/>
      <p:bldP spid="60" grpId="0"/>
      <p:bldP spid="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2000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体力 × 风险 · wendao 真实评价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367893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这趟旅行真的会累吗?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75979" y="1905000"/>
            <a:ext cx="9882521" cy="4624388"/>
            <a:chOff x="975979" y="1905000"/>
            <a:chExt cx="9882521" cy="4624388"/>
          </a:xfrm>
        </p:grpSpPr>
        <p:sp>
          <p:nvSpPr>
            <p:cNvPr id="6" name="Rectangle 6"/>
            <p:cNvSpPr/>
            <p:nvPr/>
          </p:nvSpPr>
          <p:spPr>
            <a:xfrm>
              <a:off x="1333500" y="1905000"/>
              <a:ext cx="4762500" cy="2095500"/>
            </a:xfrm>
            <a:prstGeom prst="rect">
              <a:avLst/>
            </a:prstGeom>
            <a:solidFill>
              <a:srgbClr val="3E6B53">
                <a:alpha val="15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0" y="1905000"/>
              <a:ext cx="4762500" cy="2095500"/>
            </a:xfrm>
            <a:prstGeom prst="rect">
              <a:avLst/>
            </a:pr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4000500"/>
              <a:ext cx="4762500" cy="2095500"/>
            </a:xfrm>
            <a:prstGeom prst="rect">
              <a:avLst/>
            </a:pr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0" y="4000500"/>
              <a:ext cx="4762500" cy="2095500"/>
            </a:xfrm>
            <a:prstGeom prst="rect">
              <a:avLst/>
            </a:prstGeom>
            <a:solidFill>
              <a:srgbClr val="C0392B">
                <a:alpha val="20000"/>
              </a:srgbClr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333500" y="4000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19050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5647" y="631602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风险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 rot="-5400000">
              <a:off x="975979" y="404083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强度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48062" y="618934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1062" y="618934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1555" y="542734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1555" y="237934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095500" y="4857750"/>
              <a:ext cx="762000" cy="762000"/>
            </a:xfrm>
            <a:prstGeom prst="ellipse">
              <a:avLst/>
            </a:prstGeom>
            <a:solidFill>
              <a:srgbClr val="1F4E79">
                <a:alpha val="7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36069" y="5102066"/>
              <a:ext cx="2808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D1 D7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66950" y="527208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抵达送机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400550" y="2400300"/>
              <a:ext cx="914400" cy="914400"/>
            </a:xfrm>
            <a:prstGeom prst="ellipse">
              <a:avLst/>
            </a:prstGeom>
            <a:solidFill>
              <a:srgbClr val="D4A017">
                <a:alpha val="8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02879" y="2720816"/>
              <a:ext cx="309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D2 D5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20697" y="2890838"/>
              <a:ext cx="4741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瀑布+海豚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610600" y="4895850"/>
              <a:ext cx="685800" cy="685800"/>
            </a:xfrm>
            <a:prstGeom prst="ellipse">
              <a:avLst/>
            </a:prstGeom>
            <a:solidFill>
              <a:srgbClr val="D4A017">
                <a:alpha val="7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79490" y="5102066"/>
              <a:ext cx="1480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43950" y="527208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佩妮达船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382000" y="2286000"/>
              <a:ext cx="1143000" cy="1143000"/>
            </a:xfrm>
            <a:prstGeom prst="ellipse">
              <a:avLst/>
            </a:prstGeom>
            <a:solidFill>
              <a:srgbClr val="C0392B">
                <a:alpha val="85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84550" y="2665095"/>
              <a:ext cx="337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D3 D4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93956" y="2852738"/>
              <a:ext cx="3190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双火山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97397" y="2994184"/>
              <a:ext cx="51220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200 阶+蓝火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985760" y="1775460"/>
            <a:ext cx="3825240" cy="4034790"/>
            <a:chOff x="7985760" y="1775460"/>
            <a:chExt cx="3825240" cy="4034790"/>
          </a:xfrm>
        </p:grpSpPr>
        <p:sp>
          <p:nvSpPr>
            <p:cNvPr id="32" name="TextBox 32"/>
            <p:cNvSpPr txBox="1"/>
            <p:nvPr/>
          </p:nvSpPr>
          <p:spPr>
            <a:xfrm>
              <a:off x="7985760" y="1775460"/>
              <a:ext cx="101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 个真实风险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001000" y="219075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57150" y="0"/>
                  </a:moveTo>
                  <a:lnTo>
                    <a:pt x="3752850" y="0"/>
                  </a:lnTo>
                  <a:cubicBezTo>
                    <a:pt x="3784413" y="0"/>
                    <a:pt x="3810000" y="25587"/>
                    <a:pt x="3810000" y="57150"/>
                  </a:cubicBezTo>
                  <a:lnTo>
                    <a:pt x="3810000" y="1085850"/>
                  </a:lnTo>
                  <a:cubicBezTo>
                    <a:pt x="3810000" y="1117413"/>
                    <a:pt x="3784413" y="1143000"/>
                    <a:pt x="3752850" y="1143000"/>
                  </a:cubicBezTo>
                  <a:lnTo>
                    <a:pt x="57150" y="1143000"/>
                  </a:lnTo>
                  <a:cubicBezTo>
                    <a:pt x="25587" y="1143000"/>
                    <a:pt x="0" y="1117413"/>
                    <a:pt x="0" y="1085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0392B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001000" y="2190750"/>
              <a:ext cx="57150" cy="11430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78165" y="23631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⚠ 凌晨 3 点布罗莫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80070" y="261747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5km 沙海徒步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80070" y="2788920"/>
              <a:ext cx="11990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200 级台阶登火山口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80070" y="2960370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备防寒衣物+头灯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1022" y="3139916"/>
              <a:ext cx="17701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wendao: 等日出超有耐心,行程贴心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001000" y="342900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57150" y="0"/>
                  </a:moveTo>
                  <a:lnTo>
                    <a:pt x="3752850" y="0"/>
                  </a:lnTo>
                  <a:cubicBezTo>
                    <a:pt x="3784413" y="0"/>
                    <a:pt x="3810000" y="25587"/>
                    <a:pt x="3810000" y="57150"/>
                  </a:cubicBezTo>
                  <a:lnTo>
                    <a:pt x="3810000" y="1085850"/>
                  </a:lnTo>
                  <a:cubicBezTo>
                    <a:pt x="3810000" y="1117413"/>
                    <a:pt x="3784413" y="1143000"/>
                    <a:pt x="3752850" y="1143000"/>
                  </a:cubicBezTo>
                  <a:lnTo>
                    <a:pt x="57150" y="1143000"/>
                  </a:lnTo>
                  <a:cubicBezTo>
                    <a:pt x="25587" y="1143000"/>
                    <a:pt x="0" y="1117413"/>
                    <a:pt x="0" y="1085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0392B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01000" y="3429000"/>
              <a:ext cx="57150" cy="11430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78165" y="3601402"/>
              <a:ext cx="1563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⚠ 伊真蓝火(2026 关闭)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80070" y="385572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蓝火已关,看绿硫磺湖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80070" y="402717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凌晨 2 点出发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80070" y="4198620"/>
              <a:ext cx="13370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防毒面具必备(现场租)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81022" y="4378166"/>
              <a:ext cx="17151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wendao: 2026 蓝火已关闭,湖依旧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8001000" y="466725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57150" y="0"/>
                  </a:moveTo>
                  <a:lnTo>
                    <a:pt x="3752850" y="0"/>
                  </a:lnTo>
                  <a:cubicBezTo>
                    <a:pt x="3784413" y="0"/>
                    <a:pt x="3810000" y="25587"/>
                    <a:pt x="3810000" y="57150"/>
                  </a:cubicBezTo>
                  <a:lnTo>
                    <a:pt x="3810000" y="1085850"/>
                  </a:lnTo>
                  <a:cubicBezTo>
                    <a:pt x="3810000" y="1117413"/>
                    <a:pt x="3784413" y="1143000"/>
                    <a:pt x="3752850" y="1143000"/>
                  </a:cubicBezTo>
                  <a:lnTo>
                    <a:pt x="57150" y="1143000"/>
                  </a:lnTo>
                  <a:cubicBezTo>
                    <a:pt x="25587" y="1143000"/>
                    <a:pt x="0" y="1117413"/>
                    <a:pt x="0" y="1085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A017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01000" y="4667250"/>
              <a:ext cx="57150" cy="11430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78165" y="4839652"/>
              <a:ext cx="1092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⚠ 7 月雨季+晕车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80070" y="5093970"/>
              <a:ext cx="14810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巴厘岛 7 月 30-100mm 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80070" y="5265420"/>
              <a:ext cx="13670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泗水→布罗莫 4-5h 山路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80070" y="5436870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备晕车药+防水鞋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81022" y="5616416"/>
              <a:ext cx="14401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wendao: 雨季尾声,偶有降雨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561022" y="6578441"/>
            <a:ext cx="25952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数据:wendao_query 多轮 + 携程 e2e · 2026-06-07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01797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P12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4408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D1 · 7/4 周六 · 抵达日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778074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上海 → 香港 → 泗水 SUB · 抵达桑提卡固本酒店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2000" y="1714500"/>
            <a:ext cx="6667500" cy="4191000"/>
            <a:chOff x="762000" y="1714500"/>
            <a:chExt cx="6667500" cy="4191000"/>
          </a:xfrm>
        </p:grpSpPr>
        <p:sp>
          <p:nvSpPr>
            <p:cNvPr id="6" name="Freeform 6"/>
            <p:cNvSpPr/>
            <p:nvPr/>
          </p:nvSpPr>
          <p:spPr>
            <a:xfrm>
              <a:off x="762000" y="1714500"/>
              <a:ext cx="6667500" cy="4191000"/>
            </a:xfrm>
            <a:custGeom>
              <a:avLst/>
              <a:gdLst/>
              <a:ahLst/>
              <a:cxnLst/>
              <a:rect l="l" t="t" r="r" b="b"/>
              <a:pathLst>
                <a:path w="6667500" h="4191000">
                  <a:moveTo>
                    <a:pt x="57150" y="0"/>
                  </a:moveTo>
                  <a:lnTo>
                    <a:pt x="6610350" y="0"/>
                  </a:lnTo>
                  <a:cubicBezTo>
                    <a:pt x="6641913" y="0"/>
                    <a:pt x="6667500" y="25587"/>
                    <a:pt x="6667500" y="57150"/>
                  </a:cubicBezTo>
                  <a:lnTo>
                    <a:pt x="6667500" y="4133850"/>
                  </a:lnTo>
                  <a:cubicBezTo>
                    <a:pt x="6667500" y="4165413"/>
                    <a:pt x="6641913" y="4191000"/>
                    <a:pt x="6610350" y="4191000"/>
                  </a:cubicBezTo>
                  <a:lnTo>
                    <a:pt x="57150" y="4191000"/>
                  </a:lnTo>
                  <a:cubicBezTo>
                    <a:pt x="25587" y="4191000"/>
                    <a:pt x="0" y="4165413"/>
                    <a:pt x="0" y="413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6667500" cy="4762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2510" y="1899285"/>
              <a:ext cx="23827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D1 时间表 · 低强度 · 飞行+入住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143000" y="25717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19050">
              <a:solidFill>
                <a:srgbClr val="D4C5A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066800" y="2686050"/>
              <a:ext cx="152400" cy="15240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20165" y="2696528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07:30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72665" y="2696528"/>
              <a:ext cx="1069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上海浦东 T1 集合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066800" y="3114675"/>
              <a:ext cx="152400" cy="15240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0165" y="3125152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09:30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72665" y="31251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CX365 起飞 SHA→HKG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75522" y="3320891"/>
              <a:ext cx="12256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飞行 ~3h30m · 抵达香港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66800" y="3733800"/>
              <a:ext cx="152400" cy="15240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20165" y="3744278"/>
              <a:ext cx="394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14:00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72665" y="374427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CX629 起飞 HKG→SUB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75522" y="3940016"/>
              <a:ext cx="12256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飞行 ~4h45m · 抵达泗水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6800" y="4352925"/>
              <a:ext cx="152400" cy="15240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20165" y="4363402"/>
              <a:ext cx="394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19:00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72665" y="4363402"/>
              <a:ext cx="1461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印尼海关·eVOA 落地签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75522" y="4559141"/>
              <a:ext cx="12531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35 美金 · 排队 30-60min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066800" y="4972050"/>
              <a:ext cx="152400" cy="15240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20165" y="4982528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20:30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2665" y="49825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专车送桑提卡固本酒店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75522" y="5178266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车程 30min · 4 钻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795260" y="1584960"/>
            <a:ext cx="3634740" cy="3368040"/>
            <a:chOff x="7795260" y="1584960"/>
            <a:chExt cx="3634740" cy="3368040"/>
          </a:xfrm>
        </p:grpSpPr>
        <p:sp>
          <p:nvSpPr>
            <p:cNvPr id="30" name="TextBox 30"/>
            <p:cNvSpPr txBox="1"/>
            <p:nvPr/>
          </p:nvSpPr>
          <p:spPr>
            <a:xfrm>
              <a:off x="7795260" y="1584960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D1 旅客提示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810500" y="1905000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57150" y="0"/>
                  </a:moveTo>
                  <a:lnTo>
                    <a:pt x="3562350" y="0"/>
                  </a:lnTo>
                  <a:cubicBezTo>
                    <a:pt x="3593913" y="0"/>
                    <a:pt x="3619500" y="25587"/>
                    <a:pt x="3619500" y="57150"/>
                  </a:cubicBezTo>
                  <a:lnTo>
                    <a:pt x="3619500" y="895350"/>
                  </a:lnTo>
                  <a:cubicBezTo>
                    <a:pt x="3619500" y="926913"/>
                    <a:pt x="3593913" y="952500"/>
                    <a:pt x="3562350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3E6B5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810500" y="1905000"/>
              <a:ext cx="57150" cy="95250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88618" y="2085499"/>
              <a:ext cx="509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强度:低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9570" y="2312670"/>
              <a:ext cx="9109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全程飞行+车程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89570" y="2484120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无景点,适应时差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89570" y="2655570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泗水比北京晚 1h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7810500" y="2952750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57150" y="0"/>
                  </a:moveTo>
                  <a:lnTo>
                    <a:pt x="3562350" y="0"/>
                  </a:lnTo>
                  <a:cubicBezTo>
                    <a:pt x="3593913" y="0"/>
                    <a:pt x="3619500" y="25587"/>
                    <a:pt x="3619500" y="57150"/>
                  </a:cubicBezTo>
                  <a:lnTo>
                    <a:pt x="3619500" y="895350"/>
                  </a:lnTo>
                  <a:cubicBezTo>
                    <a:pt x="3619500" y="926913"/>
                    <a:pt x="3593913" y="952500"/>
                    <a:pt x="3562350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A017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810500" y="2952750"/>
              <a:ext cx="57150" cy="9525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88618" y="3133249"/>
              <a:ext cx="918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⚠ eVOA 落地签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89570" y="3360420"/>
              <a:ext cx="13310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35 美金/人(国内换好)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89570" y="3531870"/>
              <a:ext cx="922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排队 30-60min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89570" y="370332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提前 7 天可电子签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7810500" y="4000500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57150" y="0"/>
                  </a:moveTo>
                  <a:lnTo>
                    <a:pt x="3562350" y="0"/>
                  </a:lnTo>
                  <a:cubicBezTo>
                    <a:pt x="3593913" y="0"/>
                    <a:pt x="3619500" y="25587"/>
                    <a:pt x="3619500" y="57150"/>
                  </a:cubicBezTo>
                  <a:lnTo>
                    <a:pt x="3619500" y="895350"/>
                  </a:lnTo>
                  <a:cubicBezTo>
                    <a:pt x="3619500" y="926913"/>
                    <a:pt x="3593913" y="952500"/>
                    <a:pt x="3562350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1F4E79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810500" y="4000500"/>
              <a:ext cx="57150" cy="952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88618" y="4180999"/>
              <a:ext cx="1137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酒店 · 桑提卡固本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89570" y="4408170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4 钻 · 含早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89570" y="4579620"/>
              <a:ext cx="1151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城市酒店,非度假村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89570" y="475107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简餐为主,池边无沙滩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61022" y="6578441"/>
            <a:ext cx="24522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行程模板 + wendao · 2026-06-07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1797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P13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9" grpId="0"/>
      <p:bldP spid="49" grpId="0"/>
      <p:bldP spid="50" grpId="0"/>
      <p:bldP spid="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8328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D2-D3 · 7/5-7/6 · 双高强度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594721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布罗莫火山 · 凌晨 3 点 200 级台阶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714500"/>
            <a:ext cx="5334000" cy="4191000"/>
            <a:chOff x="762000" y="1714500"/>
            <a:chExt cx="5334000" cy="4191000"/>
          </a:xfrm>
        </p:grpSpPr>
        <p:sp>
          <p:nvSpPr>
            <p:cNvPr id="6" name="Freeform 6"/>
            <p:cNvSpPr/>
            <p:nvPr/>
          </p:nvSpPr>
          <p:spPr>
            <a:xfrm>
              <a:off x="762000" y="1714500"/>
              <a:ext cx="5334000" cy="4191000"/>
            </a:xfrm>
            <a:custGeom>
              <a:avLst/>
              <a:gdLst/>
              <a:ahLst/>
              <a:cxnLst/>
              <a:rect l="l" t="t" r="r" b="b"/>
              <a:pathLst>
                <a:path w="5334000" h="41910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4133850"/>
                  </a:lnTo>
                  <a:cubicBezTo>
                    <a:pt x="5334000" y="4165413"/>
                    <a:pt x="5308413" y="4191000"/>
                    <a:pt x="5276850" y="4191000"/>
                  </a:cubicBezTo>
                  <a:lnTo>
                    <a:pt x="57150" y="4191000"/>
                  </a:lnTo>
                  <a:cubicBezTo>
                    <a:pt x="25587" y="4191000"/>
                    <a:pt x="0" y="4165413"/>
                    <a:pt x="0" y="413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334000" cy="47625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2510" y="1899285"/>
              <a:ext cx="19375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D2 7/5 · 瀑布群 → 布罗莫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47750" y="2476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9050">
              <a:solidFill>
                <a:srgbClr val="D4C5A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81075" y="2600325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3492" y="2609374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07:00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3118" y="26093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泗水早餐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81075" y="3028950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73492" y="3037999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08:30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83118" y="30379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车赴赛武瀑布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5022" y="3216116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车程 ~3h · 山路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81075" y="35528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73492" y="3561874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12:00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3118" y="35618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赛武千层瀑布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85022" y="3739991"/>
              <a:ext cx="8075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午餐 · 印尼简餐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81075" y="4076700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73492" y="4085749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15:00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3118" y="4085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蓝棉瀑布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81075" y="4600575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73492" y="4609624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18:00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83118" y="4609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抵达布罗莫公园酒店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85022" y="4787741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4 钻 · 火山小镇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81075" y="5124450"/>
              <a:ext cx="133350" cy="133350"/>
            </a:xfrm>
            <a:prstGeom prst="ellipse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73492" y="5133499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A017"/>
                  </a:solidFill>
                  <a:latin typeface="Consolas"/>
                  <a:ea typeface="Microsoft YaHei"/>
                  <a:cs typeface="Consolas"/>
                </a:rPr>
                <a:t>22:00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83118" y="5133499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⚠ 早睡 · 凌晨 3 点出发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1714500"/>
            <a:ext cx="5334000" cy="4191000"/>
            <a:chOff x="6286500" y="1714500"/>
            <a:chExt cx="5334000" cy="4191000"/>
          </a:xfrm>
        </p:grpSpPr>
        <p:sp>
          <p:nvSpPr>
            <p:cNvPr id="32" name="Freeform 32"/>
            <p:cNvSpPr/>
            <p:nvPr/>
          </p:nvSpPr>
          <p:spPr>
            <a:xfrm>
              <a:off x="6286500" y="1714500"/>
              <a:ext cx="5334000" cy="4191000"/>
            </a:xfrm>
            <a:custGeom>
              <a:avLst/>
              <a:gdLst/>
              <a:ahLst/>
              <a:cxnLst/>
              <a:rect l="l" t="t" r="r" b="b"/>
              <a:pathLst>
                <a:path w="5334000" h="41910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4133850"/>
                  </a:lnTo>
                  <a:cubicBezTo>
                    <a:pt x="5334000" y="4165413"/>
                    <a:pt x="5308413" y="4191000"/>
                    <a:pt x="5276850" y="4191000"/>
                  </a:cubicBezTo>
                  <a:lnTo>
                    <a:pt x="57150" y="4191000"/>
                  </a:lnTo>
                  <a:cubicBezTo>
                    <a:pt x="25587" y="4191000"/>
                    <a:pt x="0" y="4165413"/>
                    <a:pt x="0" y="413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714500"/>
              <a:ext cx="5334000" cy="47625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7010" y="1899285"/>
              <a:ext cx="2273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D3 7/6 · 布罗莫火山 · 巅峰日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572250" y="2476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9050">
              <a:solidFill>
                <a:srgbClr val="D4C5A0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505575" y="2600325"/>
              <a:ext cx="133350" cy="13335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992" y="2609374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Consolas"/>
                  <a:ea typeface="Microsoft YaHei"/>
                  <a:cs typeface="Consolas"/>
                </a:rPr>
                <a:t>03:00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7618" y="2609374"/>
              <a:ext cx="1137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起床 · 越野车出发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5575" y="3028950"/>
              <a:ext cx="133350" cy="13335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97992" y="3037999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Consolas"/>
                  <a:ea typeface="Microsoft YaHei"/>
                  <a:cs typeface="Consolas"/>
                </a:rPr>
                <a:t>04:30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07618" y="303799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观景台 · 等日出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09522" y="3216116"/>
              <a:ext cx="10605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气温 5-8°C,带防寒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5575" y="3552825"/>
              <a:ext cx="133350" cy="13335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7992" y="3561874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Consolas"/>
                  <a:ea typeface="Microsoft YaHei"/>
                  <a:cs typeface="Consolas"/>
                </a:rPr>
                <a:t>06:30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07618" y="3561874"/>
              <a:ext cx="10895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⚠ 200 级台阶登顶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09522" y="373999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火山口 · 硫磺味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505575" y="4076700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97992" y="4085749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08:30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07618" y="40857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回酒店早餐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05575" y="460057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97992" y="4609624"/>
              <a:ext cx="331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11:00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07618" y="460962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车赴外南梦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09522" y="478774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车程 ~5h · 慢速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05575" y="5124450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97992" y="5133499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17:00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07618" y="5133499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入住外南梦 El 酒店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50570" y="5998845"/>
            <a:ext cx="4493419" cy="373380"/>
            <a:chOff x="750570" y="5998845"/>
            <a:chExt cx="4493419" cy="373380"/>
          </a:xfrm>
        </p:grpSpPr>
        <p:sp>
          <p:nvSpPr>
            <p:cNvPr id="58" name="TextBox 58"/>
            <p:cNvSpPr txBox="1"/>
            <p:nvPr/>
          </p:nvSpPr>
          <p:spPr>
            <a:xfrm>
              <a:off x="750570" y="5998845"/>
              <a:ext cx="44934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真实点评: "近距离看 bromo 很壮观,等日出超有耐心,行程安排超贴心" — 5.0★ 携程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0570" y="6189345"/>
              <a:ext cx="3473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wendao: 7 月布罗莫开放 · 5km 沙海徒步 · 需备头灯+口罩+防寒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01797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P14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1" grpId="0"/>
      <p:bldP spid="57" grpId="0"/>
      <p:bldP spid="60" grpId="0"/>
      <p:bldP spid="6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573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D4 · 7/7 · 高强度警示日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496429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伊真火山 · 蓝火 2026 已关闭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1714500"/>
            <a:ext cx="10668000" cy="1714500"/>
            <a:chOff x="762000" y="1714500"/>
            <a:chExt cx="10668000" cy="1714500"/>
          </a:xfrm>
        </p:grpSpPr>
        <p:sp>
          <p:nvSpPr>
            <p:cNvPr id="6" name="Freeform 6"/>
            <p:cNvSpPr/>
            <p:nvPr/>
          </p:nvSpPr>
          <p:spPr>
            <a:xfrm>
              <a:off x="762000" y="1714500"/>
              <a:ext cx="10668000" cy="1714500"/>
            </a:xfrm>
            <a:custGeom>
              <a:avLst/>
              <a:gdLst/>
              <a:ahLst/>
              <a:cxnLst/>
              <a:rect l="l" t="t" r="r" b="b"/>
              <a:pathLst>
                <a:path w="10668000" h="1714500">
                  <a:moveTo>
                    <a:pt x="95250" y="0"/>
                  </a:moveTo>
                  <a:lnTo>
                    <a:pt x="10572750" y="0"/>
                  </a:lnTo>
                  <a:cubicBezTo>
                    <a:pt x="10625355" y="0"/>
                    <a:pt x="10668000" y="42645"/>
                    <a:pt x="10668000" y="95250"/>
                  </a:cubicBezTo>
                  <a:lnTo>
                    <a:pt x="10668000" y="1619250"/>
                  </a:lnTo>
                  <a:cubicBezTo>
                    <a:pt x="10668000" y="1671855"/>
                    <a:pt x="10625355" y="1714500"/>
                    <a:pt x="105727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1090" y="1929765"/>
              <a:ext cx="408062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AF6EE"/>
                  </a:solidFill>
                  <a:latin typeface="Georgia"/>
                  <a:ea typeface="Microsoft YaHei"/>
                  <a:cs typeface="Georgia"/>
                </a:rPr>
                <a:t>⚠ 蓝火 2026 已关闭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3950" y="2505075"/>
              <a:ext cx="69089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伊真蓝火(blue fire)因矿工安全和政府保护,2026 年起停止游客夜间攀登观看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7760" y="2870835"/>
              <a:ext cx="51751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替代体验:绿硫磺湖(Turquoise Lake) + 矿工工作场景 + 白天火山观景台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0618" y="3133249"/>
              <a:ext cx="3197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wendao 多轮确认:2026 起仅白天开放,凌晨出发无蓝火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3714750"/>
            <a:ext cx="5334000" cy="2667000"/>
            <a:chOff x="762000" y="3714750"/>
            <a:chExt cx="5334000" cy="2667000"/>
          </a:xfrm>
        </p:grpSpPr>
        <p:sp>
          <p:nvSpPr>
            <p:cNvPr id="12" name="Freeform 12"/>
            <p:cNvSpPr/>
            <p:nvPr/>
          </p:nvSpPr>
          <p:spPr>
            <a:xfrm>
              <a:off x="762000" y="3714750"/>
              <a:ext cx="5334000" cy="2667000"/>
            </a:xfrm>
            <a:custGeom>
              <a:avLst/>
              <a:gdLst/>
              <a:ahLst/>
              <a:cxnLst/>
              <a:rect l="l" t="t" r="r" b="b"/>
              <a:pathLst>
                <a:path w="5334000" h="26670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2609850"/>
                  </a:lnTo>
                  <a:cubicBezTo>
                    <a:pt x="5334000" y="2641413"/>
                    <a:pt x="5308413" y="2667000"/>
                    <a:pt x="5276850" y="2667000"/>
                  </a:cubicBezTo>
                  <a:lnTo>
                    <a:pt x="57150" y="2667000"/>
                  </a:lnTo>
                  <a:cubicBezTo>
                    <a:pt x="25587" y="2667000"/>
                    <a:pt x="0" y="2641413"/>
                    <a:pt x="0" y="2609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3714750"/>
              <a:ext cx="5334000" cy="47625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2510" y="3899535"/>
              <a:ext cx="10974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D4 7/7 时间表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47750" y="44767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19050">
              <a:solidFill>
                <a:srgbClr val="D4C5A0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81075" y="4600575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73492" y="4609624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06:00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83118" y="4609624"/>
              <a:ext cx="694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早餐 + 出发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1075" y="5029200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73492" y="5038249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09:00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3118" y="5038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抵达伊真山口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81075" y="5457825"/>
              <a:ext cx="133350" cy="13335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73492" y="5466874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Consolas"/>
                  <a:ea typeface="Microsoft YaHei"/>
                  <a:cs typeface="Consolas"/>
                </a:rPr>
                <a:t>10:00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83118" y="5466874"/>
              <a:ext cx="1096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⚠ 现场租防毒面具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85022" y="5644991"/>
              <a:ext cx="8845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约 50,000 IDR/次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81075" y="5981700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73492" y="5990749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14:00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83118" y="59907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返外南梦码头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3714750"/>
            <a:ext cx="5334000" cy="2667000"/>
            <a:chOff x="6286500" y="3714750"/>
            <a:chExt cx="5334000" cy="2667000"/>
          </a:xfrm>
        </p:grpSpPr>
        <p:sp>
          <p:nvSpPr>
            <p:cNvPr id="30" name="Freeform 30"/>
            <p:cNvSpPr/>
            <p:nvPr/>
          </p:nvSpPr>
          <p:spPr>
            <a:xfrm>
              <a:off x="6286500" y="3714750"/>
              <a:ext cx="5334000" cy="2667000"/>
            </a:xfrm>
            <a:custGeom>
              <a:avLst/>
              <a:gdLst/>
              <a:ahLst/>
              <a:cxnLst/>
              <a:rect l="l" t="t" r="r" b="b"/>
              <a:pathLst>
                <a:path w="5334000" h="26670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2609850"/>
                  </a:lnTo>
                  <a:cubicBezTo>
                    <a:pt x="5334000" y="2641413"/>
                    <a:pt x="5308413" y="2667000"/>
                    <a:pt x="5276850" y="2667000"/>
                  </a:cubicBezTo>
                  <a:lnTo>
                    <a:pt x="57150" y="2667000"/>
                  </a:lnTo>
                  <a:cubicBezTo>
                    <a:pt x="25587" y="2667000"/>
                    <a:pt x="0" y="2641413"/>
                    <a:pt x="0" y="2609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61760" y="39662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真实期望调整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3665" y="4315778"/>
              <a:ext cx="401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取消: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35165" y="4315778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凌晨 2 点登山 + 蓝火拍摄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3665" y="4601528"/>
              <a:ext cx="401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保留: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35165" y="4601528"/>
              <a:ext cx="25889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白天绿硫磺湖 + 矿工工作场景 + 硫磺烟雾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3665" y="4887278"/>
              <a:ext cx="401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新增: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35165" y="4887278"/>
              <a:ext cx="1867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外南梦咖啡种植园 / 沙滩放松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477000" y="52387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63665" y="541115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⚠ 客户决策: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4618" y="5657374"/>
              <a:ext cx="3041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若蓝火为核心目的 → 选 D1 凌晨登山老行程(2025 前)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4618" y="5847874"/>
              <a:ext cx="25860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若火山全景为主 → 本行程仍可,体验绿硫磺湖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4618" y="6038374"/>
              <a:ext cx="3340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产品行程描述"探秘伊真火山+千层瀑布"= 实际是绿硫磺湖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61022" y="6578441"/>
            <a:ext cx="30903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数据:wendao_query 2026 蓝火政策 + 携程 e2e · 2026-06-07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1797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P15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3E6B5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6928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D5-D6 · 7/8-7/9 · 中强度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46618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罗威纳追海豚 + 佩妮达浮潜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1714500"/>
            <a:ext cx="5334000" cy="4191000"/>
            <a:chOff x="762000" y="1714500"/>
            <a:chExt cx="5334000" cy="4191000"/>
          </a:xfrm>
        </p:grpSpPr>
        <p:sp>
          <p:nvSpPr>
            <p:cNvPr id="6" name="Freeform 6"/>
            <p:cNvSpPr/>
            <p:nvPr/>
          </p:nvSpPr>
          <p:spPr>
            <a:xfrm>
              <a:off x="762000" y="1714500"/>
              <a:ext cx="5334000" cy="4191000"/>
            </a:xfrm>
            <a:custGeom>
              <a:avLst/>
              <a:gdLst/>
              <a:ahLst/>
              <a:cxnLst/>
              <a:rect l="l" t="t" r="r" b="b"/>
              <a:pathLst>
                <a:path w="5334000" h="41910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4133850"/>
                  </a:lnTo>
                  <a:cubicBezTo>
                    <a:pt x="5334000" y="4165413"/>
                    <a:pt x="5308413" y="4191000"/>
                    <a:pt x="5276850" y="4191000"/>
                  </a:cubicBezTo>
                  <a:lnTo>
                    <a:pt x="57150" y="4191000"/>
                  </a:lnTo>
                  <a:cubicBezTo>
                    <a:pt x="25587" y="4191000"/>
                    <a:pt x="0" y="4165413"/>
                    <a:pt x="0" y="413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334000" cy="4762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2510" y="1899285"/>
              <a:ext cx="24331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D5 7/8 · 罗威纳追海豚(三选一)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47750" y="2476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9050">
              <a:solidFill>
                <a:srgbClr val="D4C5A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81075" y="2600325"/>
              <a:ext cx="133350" cy="13335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3492" y="2609374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Consolas"/>
                  <a:ea typeface="Microsoft YaHei"/>
                  <a:cs typeface="Consolas"/>
                </a:rPr>
                <a:t>05:00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3118" y="2609374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⚠ 凌晨 5 点出海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5022" y="2787491"/>
              <a:ext cx="7195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4-5h 追海豚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981075" y="3171825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73492" y="3180874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10:00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3118" y="318087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回酒店早餐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81075" y="37433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73492" y="3752374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12:00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3118" y="3752374"/>
              <a:ext cx="994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三选一(三选一)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2476500" y="3619500"/>
              <a:ext cx="3333750" cy="476250"/>
            </a:xfrm>
            <a:custGeom>
              <a:avLst/>
              <a:gdLst/>
              <a:ahLst/>
              <a:cxnLst/>
              <a:rect l="l" t="t" r="r" b="b"/>
              <a:pathLst>
                <a:path w="3333750" h="476250">
                  <a:moveTo>
                    <a:pt x="28575" y="0"/>
                  </a:moveTo>
                  <a:lnTo>
                    <a:pt x="3305175" y="0"/>
                  </a:lnTo>
                  <a:cubicBezTo>
                    <a:pt x="3320957" y="0"/>
                    <a:pt x="3333750" y="12793"/>
                    <a:pt x="3333750" y="28575"/>
                  </a:cubicBezTo>
                  <a:lnTo>
                    <a:pt x="3333750" y="447675"/>
                  </a:lnTo>
                  <a:cubicBezTo>
                    <a:pt x="3333750" y="463457"/>
                    <a:pt x="3320957" y="476250"/>
                    <a:pt x="3305175" y="476250"/>
                  </a:cubicBezTo>
                  <a:lnTo>
                    <a:pt x="28575" y="476250"/>
                  </a:lnTo>
                  <a:cubicBezTo>
                    <a:pt x="12793" y="476250"/>
                    <a:pt x="0" y="463457"/>
                    <a:pt x="0" y="4476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F4E79">
                <a:alpha val="1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560320" y="3731895"/>
              <a:ext cx="1217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选项 A: Alas 自然瀑布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60320" y="3903345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选项 B: 百度 + 双子湖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981075" y="460057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73492" y="4609624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17:00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83118" y="46096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入住罗维纳海滩俱乐部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85022" y="47877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4 钻 · 含早 · 海景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1714500"/>
            <a:ext cx="5334000" cy="4191000"/>
            <a:chOff x="6286500" y="1714500"/>
            <a:chExt cx="5334000" cy="4191000"/>
          </a:xfrm>
        </p:grpSpPr>
        <p:sp>
          <p:nvSpPr>
            <p:cNvPr id="28" name="Freeform 28"/>
            <p:cNvSpPr/>
            <p:nvPr/>
          </p:nvSpPr>
          <p:spPr>
            <a:xfrm>
              <a:off x="6286500" y="1714500"/>
              <a:ext cx="5334000" cy="4191000"/>
            </a:xfrm>
            <a:custGeom>
              <a:avLst/>
              <a:gdLst/>
              <a:ahLst/>
              <a:cxnLst/>
              <a:rect l="l" t="t" r="r" b="b"/>
              <a:pathLst>
                <a:path w="5334000" h="41910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4133850"/>
                  </a:lnTo>
                  <a:cubicBezTo>
                    <a:pt x="5334000" y="4165413"/>
                    <a:pt x="5308413" y="4191000"/>
                    <a:pt x="5276850" y="4191000"/>
                  </a:cubicBezTo>
                  <a:lnTo>
                    <a:pt x="57150" y="4191000"/>
                  </a:lnTo>
                  <a:cubicBezTo>
                    <a:pt x="25587" y="4191000"/>
                    <a:pt x="0" y="4165413"/>
                    <a:pt x="0" y="413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714500"/>
              <a:ext cx="5334000" cy="47625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7010" y="1899285"/>
              <a:ext cx="20971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D6 7/9 · 佩妮达岛(二选一)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572250" y="2476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9050">
              <a:solidFill>
                <a:srgbClr val="D4C5A0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505575" y="2600325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7992" y="2609374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07:00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07618" y="2609374"/>
              <a:ext cx="694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早餐 + 出发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5575" y="31718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97992" y="3180874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09:00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7618" y="318087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船去佩妮达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9522" y="3358991"/>
              <a:ext cx="6645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船程 45min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5575" y="37433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97992" y="3752374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10:00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07618" y="3752374"/>
              <a:ext cx="994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二选一(二选一)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001000" y="3619500"/>
              <a:ext cx="3333750" cy="476250"/>
            </a:xfrm>
            <a:custGeom>
              <a:avLst/>
              <a:gdLst/>
              <a:ahLst/>
              <a:cxnLst/>
              <a:rect l="l" t="t" r="r" b="b"/>
              <a:pathLst>
                <a:path w="3333750" h="476250">
                  <a:moveTo>
                    <a:pt x="28575" y="0"/>
                  </a:moveTo>
                  <a:lnTo>
                    <a:pt x="3305175" y="0"/>
                  </a:lnTo>
                  <a:cubicBezTo>
                    <a:pt x="3320957" y="0"/>
                    <a:pt x="3333750" y="12793"/>
                    <a:pt x="3333750" y="28575"/>
                  </a:cubicBezTo>
                  <a:lnTo>
                    <a:pt x="3333750" y="447675"/>
                  </a:lnTo>
                  <a:cubicBezTo>
                    <a:pt x="3333750" y="463457"/>
                    <a:pt x="3320957" y="476250"/>
                    <a:pt x="3305175" y="476250"/>
                  </a:cubicBezTo>
                  <a:lnTo>
                    <a:pt x="28575" y="476250"/>
                  </a:lnTo>
                  <a:cubicBezTo>
                    <a:pt x="12793" y="476250"/>
                    <a:pt x="0" y="463457"/>
                    <a:pt x="0" y="4476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3E6B53">
                <a:alpha val="1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084820" y="3731895"/>
              <a:ext cx="19370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西线: 精灵坠崖+天神浴池+破碎沙滩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84820" y="3903345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东线: 浮潜+曼塔湾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05575" y="441007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7992" y="4419124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16:00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07618" y="44191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船回沙努尔码头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05575" y="4886325"/>
              <a:ext cx="133350" cy="133350"/>
            </a:xfrm>
            <a:prstGeom prst="ellipse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97992" y="4895374"/>
              <a:ext cx="366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18:00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07618" y="48953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入住库塔万枫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09522" y="5073491"/>
              <a:ext cx="9945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· 3 钻降级 · 商业区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50570" y="5998845"/>
            <a:ext cx="4547426" cy="373380"/>
            <a:chOff x="750570" y="5998845"/>
            <a:chExt cx="4547426" cy="373380"/>
          </a:xfrm>
        </p:grpSpPr>
        <p:sp>
          <p:nvSpPr>
            <p:cNvPr id="53" name="TextBox 53"/>
            <p:cNvSpPr txBox="1"/>
            <p:nvPr/>
          </p:nvSpPr>
          <p:spPr>
            <a:xfrm>
              <a:off x="750570" y="5998845"/>
              <a:ext cx="45474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⚠ 7 月巴厘岛雨季尾声:30-100mm 雨,海豚/浮潜可能因风浪取消 · wendao: 偶有降雨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0570" y="6189345"/>
              <a:ext cx="2987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三选一+二选一 = 行程灵活度 ✓ · 旅客可现场与管家协调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01797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P16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7" grpId="0"/>
      <p:bldP spid="52" grpId="0"/>
      <p:bldP spid="55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22809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7 款竞品对比 · e2e productExtend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573928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同区域 7 日游 · 6,835 - 9,621 元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869176" y="2054066"/>
            <a:ext cx="9580008" cy="3098959"/>
            <a:chOff x="1869176" y="2054066"/>
            <a:chExt cx="9580008" cy="3098959"/>
          </a:xfrm>
        </p:grpSpPr>
        <p:sp>
          <p:nvSpPr>
            <p:cNvPr id="6" name="Line 6"/>
            <p:cNvSpPr/>
            <p:nvPr/>
          </p:nvSpPr>
          <p:spPr>
            <a:xfrm>
              <a:off x="2857500" y="209550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7" name="Line 7"/>
            <p:cNvSpPr/>
            <p:nvPr/>
          </p:nvSpPr>
          <p:spPr>
            <a:xfrm>
              <a:off x="2857500" y="27146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8" name="Line 8"/>
            <p:cNvSpPr/>
            <p:nvPr/>
          </p:nvSpPr>
          <p:spPr>
            <a:xfrm>
              <a:off x="2857500" y="33337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9" name="Line 9"/>
            <p:cNvSpPr/>
            <p:nvPr/>
          </p:nvSpPr>
          <p:spPr>
            <a:xfrm>
              <a:off x="2857500" y="395287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10" name="Line 10"/>
            <p:cNvSpPr/>
            <p:nvPr/>
          </p:nvSpPr>
          <p:spPr>
            <a:xfrm>
              <a:off x="2857500" y="457200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11" name="Line 11"/>
            <p:cNvSpPr/>
            <p:nvPr/>
          </p:nvSpPr>
          <p:spPr>
            <a:xfrm>
              <a:off x="2857500" y="514350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524363" y="2054066"/>
              <a:ext cx="2959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10000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57367" y="2673191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9000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57367" y="3292316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8000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57367" y="3911441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7000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57367" y="4530566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6000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57500" y="2143125"/>
              <a:ext cx="6334125" cy="32385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69176" y="2247424"/>
              <a:ext cx="953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P69762187(本)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4492" y="2247424"/>
              <a:ext cx="5913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AF6EE"/>
                  </a:solidFill>
                  <a:latin typeface="Consolas"/>
                  <a:ea typeface="Microsoft YaHei"/>
                  <a:cs typeface="Consolas"/>
                </a:rPr>
                <a:t>¥7,557 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57500" y="2524125"/>
              <a:ext cx="5724525" cy="3238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66914" y="2628424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拼小团 7日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4892" y="2628424"/>
              <a:ext cx="475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AF6EE"/>
                  </a:solidFill>
                  <a:latin typeface="Consolas"/>
                  <a:ea typeface="Microsoft YaHei"/>
                  <a:cs typeface="Consolas"/>
                </a:rPr>
                <a:t>¥6,835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857500" y="2905125"/>
              <a:ext cx="7086600" cy="3238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166914" y="3009424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半自助 7日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26968" y="3009424"/>
              <a:ext cx="475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AF6EE"/>
                  </a:solidFill>
                  <a:latin typeface="Consolas"/>
                  <a:ea typeface="Microsoft YaHei"/>
                  <a:cs typeface="Consolas"/>
                </a:rPr>
                <a:t>¥8,457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57500" y="3286125"/>
              <a:ext cx="7524750" cy="3238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166914" y="3390424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纯玩团 7日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65118" y="3390424"/>
              <a:ext cx="475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AF6EE"/>
                  </a:solidFill>
                  <a:latin typeface="Consolas"/>
                  <a:ea typeface="Microsoft YaHei"/>
                  <a:cs typeface="Consolas"/>
                </a:rPr>
                <a:t>¥8,979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857500" y="3667125"/>
              <a:ext cx="7477125" cy="3238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66914" y="3771424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深度游 7日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17492" y="3771424"/>
              <a:ext cx="475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AF6EE"/>
                  </a:solidFill>
                  <a:latin typeface="Consolas"/>
                  <a:ea typeface="Microsoft YaHei"/>
                  <a:cs typeface="Consolas"/>
                </a:rPr>
                <a:t>¥8,926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857500" y="4048125"/>
              <a:ext cx="8067675" cy="3238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166914" y="4152424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豪华团 7日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08042" y="4152424"/>
              <a:ext cx="441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AF6EE"/>
                  </a:solidFill>
                  <a:latin typeface="Consolas"/>
                  <a:ea typeface="Microsoft YaHei"/>
                  <a:cs typeface="Consolas"/>
                </a:rPr>
                <a:t>¥9,621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857500" y="4429125"/>
              <a:ext cx="7086600" cy="323850"/>
            </a:xfrm>
            <a:prstGeom prst="rect">
              <a:avLst/>
            </a:prstGeom>
            <a:solidFill>
              <a:srgbClr val="1F4E79">
                <a:alpha val="6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66914" y="4533424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商务团 7日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26968" y="4533424"/>
              <a:ext cx="475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AF6EE"/>
                  </a:solidFill>
                  <a:latin typeface="Consolas"/>
                  <a:ea typeface="Microsoft YaHei"/>
                  <a:cs typeface="Consolas"/>
                </a:rPr>
                <a:t>¥8,457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49618" y="5609749"/>
            <a:ext cx="5419296" cy="457676"/>
            <a:chOff x="749618" y="5609749"/>
            <a:chExt cx="5419296" cy="457676"/>
          </a:xfrm>
        </p:grpSpPr>
        <p:sp>
          <p:nvSpPr>
            <p:cNvPr id="39" name="TextBox 39"/>
            <p:cNvSpPr txBox="1"/>
            <p:nvPr/>
          </p:nvSpPr>
          <p:spPr>
            <a:xfrm>
              <a:off x="749618" y="5609749"/>
              <a:ext cx="645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市场位置: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92618" y="5609749"/>
              <a:ext cx="42762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¥7,557 在 7 款中排第 2 低 · 价差仅 ¥722 vs 最低 · 价差 ¥2,064 vs 最高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0570" y="5884545"/>
              <a:ext cx="30712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含布罗莫+伊真双火山 7 日 · 同价竞品多为单岛/单火山游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61022" y="6578441"/>
            <a:ext cx="32003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productExtend.MoreRecommend · 2026-06-07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01797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P17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班期 vs 库存 · 已核实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31496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日历价 ≠ 可订库存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762000" y="1619250"/>
            <a:ext cx="10668000" cy="5048250"/>
            <a:chOff x="762000" y="1619250"/>
            <a:chExt cx="10668000" cy="5048250"/>
          </a:xfrm>
        </p:grpSpPr>
        <p:sp>
          <p:nvSpPr>
            <p:cNvPr id="6" name="Rectangle 6"/>
            <p:cNvSpPr/>
            <p:nvPr/>
          </p:nvSpPr>
          <p:spPr>
            <a:xfrm>
              <a:off x="762000" y="1619250"/>
              <a:ext cx="10668000" cy="4762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415" y="18107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日期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44165" y="18107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节日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68165" y="1810702"/>
              <a:ext cx="548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单价/人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92165" y="18107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双人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16165" y="1810702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showGroup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40165" y="18107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真实库存</a:t>
              </a:r>
            </a:p>
          </p:txBody>
        </p:sp>
        <p:grpSp>
          <p:nvGrpSpPr>
            <p:cNvPr id="97" name="Group 97"/>
            <p:cNvGrpSpPr/>
            <p:nvPr/>
          </p:nvGrpSpPr>
          <p:grpSpPr>
            <a:xfrm>
              <a:off x="762000" y="2095500"/>
              <a:ext cx="10668000" cy="4572000"/>
              <a:chOff x="762000" y="2095500"/>
              <a:chExt cx="10668000" cy="4572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095500"/>
                <a:ext cx="10668000" cy="381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35368" y="2228374"/>
                <a:ext cx="5773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6/19 端午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845118" y="2228374"/>
                <a:ext cx="2847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端午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69118" y="2228374"/>
                <a:ext cx="4213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¥9,551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893118" y="2228374"/>
                <a:ext cx="4603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¥19,102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417118" y="222837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E6B53"/>
                    </a:solidFill>
                    <a:latin typeface="Consolas"/>
                    <a:ea typeface="Microsoft YaHei"/>
                    <a:cs typeface="Consolas"/>
                  </a:rPr>
                  <a:t>true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41118" y="2228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● 可直接订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762000" y="2476500"/>
                <a:ext cx="10668000" cy="381000"/>
              </a:xfrm>
              <a:prstGeom prst="rect">
                <a:avLst/>
              </a:prstGeom>
              <a:solidFill>
                <a:srgbClr val="FAF6EE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35368" y="260937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6/26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845118" y="2609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69118" y="2609374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¥8,725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893118" y="26093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¥17,450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417118" y="2609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941118" y="2609374"/>
                <a:ext cx="5503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限库存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762000" y="2857500"/>
                <a:ext cx="10668000" cy="381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35368" y="2990374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7/4 目标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845118" y="2990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69118" y="2990374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¥8,948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893118" y="29903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¥17,896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417118" y="2990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941118" y="2990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咨询管家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762000" y="3238500"/>
                <a:ext cx="10668000" cy="381000"/>
              </a:xfrm>
              <a:prstGeom prst="rect">
                <a:avLst/>
              </a:prstGeom>
              <a:solidFill>
                <a:srgbClr val="FAF6EE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35368" y="3371374"/>
                <a:ext cx="2392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7/5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845118" y="3371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369118" y="3371374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¥8,394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893118" y="33713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¥16,788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417118" y="3371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941118" y="3371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咨询管家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62000" y="3619500"/>
                <a:ext cx="10668000" cy="381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35368" y="3752374"/>
                <a:ext cx="7756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7/6 7月最低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845118" y="3752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369118" y="3752374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¥7,893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893118" y="37523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¥15,786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417118" y="3752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941118" y="3752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咨询管家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762000" y="4000500"/>
                <a:ext cx="10668000" cy="381000"/>
              </a:xfrm>
              <a:prstGeom prst="rect">
                <a:avLst/>
              </a:prstGeom>
              <a:solidFill>
                <a:srgbClr val="FAF6EE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35368" y="4133374"/>
                <a:ext cx="2392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845118" y="4133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369118" y="4133374"/>
                <a:ext cx="4213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¥8,156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893118" y="4133374"/>
                <a:ext cx="4603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¥16,312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417118" y="4133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941118" y="4133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咨询管家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762000" y="4381500"/>
                <a:ext cx="10668000" cy="381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35368" y="4514374"/>
                <a:ext cx="2392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7/8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2845118" y="4514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369118" y="4514374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¥8,632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893118" y="45143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¥17,264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417118" y="4514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941118" y="4514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咨询管家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762000" y="4762500"/>
                <a:ext cx="10668000" cy="381000"/>
              </a:xfrm>
              <a:prstGeom prst="rect">
                <a:avLst/>
              </a:prstGeom>
              <a:solidFill>
                <a:srgbClr val="FAF6EE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1035368" y="4895374"/>
                <a:ext cx="2392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7/9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2845118" y="4895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4369118" y="4895374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¥8,398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893118" y="48953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¥16,796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417118" y="4895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8941118" y="4895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咨询管家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762000" y="5143500"/>
                <a:ext cx="10668000" cy="381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35368" y="5276374"/>
                <a:ext cx="44731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7/10 返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2845118" y="5276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369118" y="5276374"/>
                <a:ext cx="4213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¥8,193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5893118" y="52763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¥16,386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417118" y="5276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941118" y="5276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咨询管家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762000" y="5524500"/>
                <a:ext cx="10668000" cy="381000"/>
              </a:xfrm>
              <a:prstGeom prst="rect">
                <a:avLst/>
              </a:prstGeom>
              <a:solidFill>
                <a:srgbClr val="FAF6EE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1035368" y="5657374"/>
                <a:ext cx="7005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8/6 全年低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2845118" y="5657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4369118" y="5657374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¥7,557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5893118" y="5657374"/>
                <a:ext cx="4278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¥15,114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417118" y="5657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8941118" y="5657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咨询管家</a:t>
                </a:r>
              </a:p>
            </p:txBody>
          </p:sp>
          <p:sp>
            <p:nvSpPr>
              <p:cNvPr id="83" name="Rectangle 83"/>
              <p:cNvSpPr/>
              <p:nvPr/>
            </p:nvSpPr>
            <p:spPr>
              <a:xfrm>
                <a:off x="762000" y="5905500"/>
                <a:ext cx="10668000" cy="381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1035368" y="6038374"/>
                <a:ext cx="8779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8/31 全年最低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2845118" y="6038374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-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4369118" y="6038374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¥6,892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5893118" y="60383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¥13,784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417118" y="6038374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Consolas"/>
                    <a:ea typeface="Microsoft YaHei"/>
                    <a:cs typeface="Consolas"/>
                  </a:rPr>
                  <a:t>false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941118" y="6038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● 咨询管家</a:t>
                </a:r>
              </a:p>
            </p:txBody>
          </p:sp>
          <p:sp>
            <p:nvSpPr>
              <p:cNvPr id="90" name="Rectangle 90"/>
              <p:cNvSpPr/>
              <p:nvPr/>
            </p:nvSpPr>
            <p:spPr>
              <a:xfrm>
                <a:off x="762000" y="6286500"/>
                <a:ext cx="10668000" cy="381000"/>
              </a:xfrm>
              <a:prstGeom prst="rect">
                <a:avLst/>
              </a:prstGeom>
              <a:solidFill>
                <a:srgbClr val="FAF6EE"/>
              </a:solidFill>
              <a:ln w="9525">
                <a:solidFill>
                  <a:srgbClr val="D4C5A0"/>
                </a:solidFill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1035368" y="6419374"/>
                <a:ext cx="6098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9/25 中秋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2845118" y="6419374"/>
                <a:ext cx="2847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中秋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4369118" y="6419374"/>
                <a:ext cx="4213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¥9,147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5893118" y="6419374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0000"/>
                    </a:solidFill>
                    <a:latin typeface="Consolas"/>
                    <a:ea typeface="Microsoft YaHei"/>
                    <a:cs typeface="Consolas"/>
                  </a:rPr>
                  <a:t>¥18,294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7417118" y="641937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E6B53"/>
                    </a:solidFill>
                    <a:latin typeface="Consolas"/>
                    <a:ea typeface="Microsoft YaHei"/>
                    <a:cs typeface="Consolas"/>
                  </a:rPr>
                  <a:t>true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8941118" y="6419374"/>
                <a:ext cx="6868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● 可直接订</a:t>
                </a:r>
              </a:p>
            </p:txBody>
          </p:sp>
        </p:grpSp>
      </p:grpSp>
      <p:sp>
        <p:nvSpPr>
          <p:cNvPr id="99" name="TextBox 99"/>
          <p:cNvSpPr txBox="1"/>
          <p:nvPr/>
        </p:nvSpPr>
        <p:spPr>
          <a:xfrm>
            <a:off x="561022" y="6578441"/>
            <a:ext cx="28153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priceCalendar · 12 个班期 · 2026-06-07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01797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P18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98" grpId="0"/>
      <p:bldP spid="99" grpId="0"/>
      <p:bldP spid="10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447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双人预算拆解 · 已核实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469965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7/4 双人 · ¥23,036 总预算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72785" y="1456849"/>
            <a:ext cx="10866715" cy="4127182"/>
            <a:chOff x="372785" y="1456849"/>
            <a:chExt cx="10866715" cy="4127182"/>
          </a:xfrm>
        </p:grpSpPr>
        <p:sp>
          <p:nvSpPr>
            <p:cNvPr id="6" name="Line 6"/>
            <p:cNvSpPr/>
            <p:nvPr/>
          </p:nvSpPr>
          <p:spPr>
            <a:xfrm>
              <a:off x="762000" y="19050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257175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8" name="Line 8"/>
            <p:cNvSpPr/>
            <p:nvPr/>
          </p:nvSpPr>
          <p:spPr>
            <a:xfrm>
              <a:off x="762000" y="32385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390525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10" name="Line 10"/>
            <p:cNvSpPr/>
            <p:nvPr/>
          </p:nvSpPr>
          <p:spPr>
            <a:xfrm>
              <a:off x="762000" y="45720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  <a:prstDash val="sysDot"/>
            </a:ln>
          </p:spPr>
        </p:sp>
        <p:sp>
          <p:nvSpPr>
            <p:cNvPr id="11" name="Line 11"/>
            <p:cNvSpPr/>
            <p:nvPr/>
          </p:nvSpPr>
          <p:spPr>
            <a:xfrm>
              <a:off x="762000" y="51435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2785" y="1863566"/>
              <a:ext cx="32349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25000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2785" y="2530316"/>
              <a:ext cx="32349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20000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0288" y="3197066"/>
              <a:ext cx="2959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15000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288" y="3863816"/>
              <a:ext cx="2959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10000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3292" y="4530566"/>
              <a:ext cx="2629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C5C5C"/>
                  </a:solidFill>
                  <a:latin typeface="Consolas"/>
                  <a:ea typeface="Microsoft YaHei"/>
                  <a:cs typeface="Consolas"/>
                </a:rPr>
                <a:t>5000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43000" y="2352675"/>
              <a:ext cx="1333500" cy="2790825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531782" y="2172652"/>
              <a:ext cx="555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0392B"/>
                  </a:solidFill>
                  <a:latin typeface="Consolas"/>
                  <a:ea typeface="Microsoft YaHei"/>
                  <a:cs typeface="Consolas"/>
                </a:rPr>
                <a:t>¥17,896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1290" y="5236845"/>
              <a:ext cx="4969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跟团 7/4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84746" y="5416391"/>
              <a:ext cx="450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8948 × 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048000" y="2057400"/>
              <a:ext cx="1333500" cy="61912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39572" y="1875949"/>
              <a:ext cx="5503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F4E79"/>
                  </a:solidFill>
                  <a:latin typeface="Consolas"/>
                  <a:ea typeface="Microsoft YaHei"/>
                  <a:cs typeface="Consolas"/>
                </a:rPr>
                <a:t>+¥2,500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63290" y="52368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自费项目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58717" y="5416391"/>
              <a:ext cx="9120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浮潜+追豚+蓝火面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953000" y="1914525"/>
              <a:ext cx="1333500" cy="17145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19657" y="1752124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E6B53"/>
                  </a:solidFill>
                  <a:latin typeface="Consolas"/>
                  <a:ea typeface="Microsoft YaHei"/>
                  <a:cs typeface="Consolas"/>
                </a:rPr>
                <a:t>+¥700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66277" y="5236845"/>
              <a:ext cx="706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eVOA 落地签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8737" y="5416391"/>
              <a:ext cx="5820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35 美金 × 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58000" y="1828800"/>
              <a:ext cx="1333500" cy="11430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24657" y="1666399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E6B53"/>
                  </a:solidFill>
                  <a:latin typeface="Consolas"/>
                  <a:ea typeface="Microsoft YaHei"/>
                  <a:cs typeface="Consolas"/>
                </a:rPr>
                <a:t>+¥420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20271" y="5236845"/>
              <a:ext cx="808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司机/向导小费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3484" y="5416391"/>
              <a:ext cx="6425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 天 × 60/人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63000" y="1619250"/>
              <a:ext cx="1333500" cy="19050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1637" y="1456849"/>
              <a:ext cx="516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E6B53"/>
                  </a:solidFill>
                  <a:latin typeface="Consolas"/>
                  <a:ea typeface="Microsoft YaHei"/>
                  <a:cs typeface="Consolas"/>
                </a:rPr>
                <a:t>+¥1,520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45286" y="5236845"/>
              <a:ext cx="568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备用+杂费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67228" y="5416391"/>
              <a:ext cx="7250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 天餐+纪念品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477500" y="1714500"/>
              <a:ext cx="762000" cy="3429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562155" y="1534478"/>
              <a:ext cx="592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¥23,036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27055" y="5236845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总计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9618" y="5895499"/>
            <a:ext cx="5388483" cy="629126"/>
            <a:chOff x="749618" y="5895499"/>
            <a:chExt cx="5388483" cy="629126"/>
          </a:xfrm>
        </p:grpSpPr>
        <p:sp>
          <p:nvSpPr>
            <p:cNvPr id="41" name="TextBox 41"/>
            <p:cNvSpPr txBox="1"/>
            <p:nvPr/>
          </p:nvSpPr>
          <p:spPr>
            <a:xfrm>
              <a:off x="749618" y="5895499"/>
              <a:ext cx="11510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已核实 vs 未核实: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0570" y="6170295"/>
              <a:ext cx="53875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跟团 ¥15,086 (e2e 价格) · 印尼 eVOA ¥500 (官方) · 小费 ¥500 (印尼惯例) · 旅游税 ¥140 (官方)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0570" y="6341745"/>
              <a:ext cx="3503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4A017"/>
                  </a:solidFill>
                  <a:latin typeface="Segoe UI"/>
                  <a:ea typeface="Microsoft YaHei"/>
                  <a:cs typeface="Segoe UI"/>
                </a:rPr>
                <a:t>⚠ 自费项目 ¥1,800 与 备用 ¥1,360 来自经验估值,实际依现场消费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61022" y="6578441"/>
            <a:ext cx="19792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数据:携程 e2e + wendao · 2026-06-07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01797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P19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3E6B5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出发前 27 天 · 清单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454844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打钩项 · 出发前 30 天完成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762000" y="1714500"/>
            <a:ext cx="10858500" cy="4000500"/>
            <a:chOff x="762000" y="1714500"/>
            <a:chExt cx="10858500" cy="4000500"/>
          </a:xfrm>
        </p:grpSpPr>
        <p:sp>
          <p:nvSpPr>
            <p:cNvPr id="6" name="Freeform 6"/>
            <p:cNvSpPr/>
            <p:nvPr/>
          </p:nvSpPr>
          <p:spPr>
            <a:xfrm>
              <a:off x="762000" y="1714500"/>
              <a:ext cx="2571750" cy="4000500"/>
            </a:xfrm>
            <a:custGeom>
              <a:avLst/>
              <a:gdLst/>
              <a:ahLst/>
              <a:cxnLst/>
              <a:rect l="l" t="t" r="r" b="b"/>
              <a:pathLst>
                <a:path w="2571750" h="4000500">
                  <a:moveTo>
                    <a:pt x="57150" y="0"/>
                  </a:moveTo>
                  <a:lnTo>
                    <a:pt x="2514600" y="0"/>
                  </a:lnTo>
                  <a:cubicBezTo>
                    <a:pt x="2546163" y="0"/>
                    <a:pt x="2571750" y="25587"/>
                    <a:pt x="2571750" y="57150"/>
                  </a:cubicBezTo>
                  <a:lnTo>
                    <a:pt x="2571750" y="3943350"/>
                  </a:lnTo>
                  <a:cubicBezTo>
                    <a:pt x="2571750" y="3974913"/>
                    <a:pt x="2546163" y="4000500"/>
                    <a:pt x="2514600" y="4000500"/>
                  </a:cubicBezTo>
                  <a:lnTo>
                    <a:pt x="57150" y="4000500"/>
                  </a:lnTo>
                  <a:cubicBezTo>
                    <a:pt x="25587" y="4000500"/>
                    <a:pt x="0" y="3974913"/>
                    <a:pt x="0" y="3943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1F4E7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2571750" cy="4762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7260" y="1899285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证件 + 签证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40118" y="2418874"/>
              <a:ext cx="1656469" cy="2334101"/>
              <a:chOff x="940118" y="2418874"/>
              <a:chExt cx="1656469" cy="233410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40118" y="2418874"/>
                <a:ext cx="13054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☑ 护照有效期 ≥ 6 个月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0118" y="2704624"/>
                <a:ext cx="16564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☑ 印尼 eVOA 落地签 35 美金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0118" y="2990374"/>
                <a:ext cx="15979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提前 7 天电子签(更省时)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0118" y="3276124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打印行程单 + 酒店预订单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0118" y="3561874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紧急联系人 + 保险单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0118" y="3847624"/>
                <a:ext cx="13054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D4A017"/>
                    </a:solidFill>
                    <a:latin typeface="Segoe UI"/>
                    <a:ea typeface="Microsoft YaHei"/>
                    <a:cs typeface="Segoe UI"/>
                  </a:rPr>
                  <a:t>⚠ 携程送团需打印订单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1070" y="4189095"/>
                <a:ext cx="3288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建议: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1070" y="437959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手机截图备份所有凭证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1070" y="457009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护照首页拍照 + 邮箱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524250" y="1714500"/>
              <a:ext cx="2571750" cy="4000500"/>
            </a:xfrm>
            <a:custGeom>
              <a:avLst/>
              <a:gdLst/>
              <a:ahLst/>
              <a:cxnLst/>
              <a:rect l="l" t="t" r="r" b="b"/>
              <a:pathLst>
                <a:path w="2571750" h="4000500">
                  <a:moveTo>
                    <a:pt x="57150" y="0"/>
                  </a:moveTo>
                  <a:lnTo>
                    <a:pt x="2514600" y="0"/>
                  </a:lnTo>
                  <a:cubicBezTo>
                    <a:pt x="2546163" y="0"/>
                    <a:pt x="2571750" y="25587"/>
                    <a:pt x="2571750" y="57150"/>
                  </a:cubicBezTo>
                  <a:lnTo>
                    <a:pt x="2571750" y="3943350"/>
                  </a:lnTo>
                  <a:cubicBezTo>
                    <a:pt x="2571750" y="3974913"/>
                    <a:pt x="2546163" y="4000500"/>
                    <a:pt x="2514600" y="4000500"/>
                  </a:cubicBezTo>
                  <a:lnTo>
                    <a:pt x="57150" y="4000500"/>
                  </a:lnTo>
                  <a:cubicBezTo>
                    <a:pt x="25587" y="4000500"/>
                    <a:pt x="0" y="3974913"/>
                    <a:pt x="0" y="3943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3E6B5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24250" y="1714500"/>
              <a:ext cx="2571750" cy="47625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99510" y="18992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装备清单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702368" y="2418874"/>
              <a:ext cx="1584960" cy="2334101"/>
              <a:chOff x="3702368" y="2418874"/>
              <a:chExt cx="1584960" cy="2334101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3702368" y="2418874"/>
                <a:ext cx="1318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☑ 头灯(凌晨火山必备)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02368" y="2704624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☑ 防寒外套(布罗莫 5-8°C)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02368" y="2990374"/>
                <a:ext cx="10323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防晒霜 SPF 50+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02368" y="3276124"/>
                <a:ext cx="13899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防水鞋(瀑布+火山灰)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02368" y="3561874"/>
                <a:ext cx="1318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浮潜装备(可现场租)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702368" y="3847624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防蚊液 + 蚊帐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703320" y="4189095"/>
                <a:ext cx="3288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可选: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703320" y="4379595"/>
                <a:ext cx="12770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便携充电宝 20000mAh+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703320" y="457009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手机防水袋</a:t>
                </a:r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6286500" y="1714500"/>
              <a:ext cx="2571750" cy="4000500"/>
            </a:xfrm>
            <a:custGeom>
              <a:avLst/>
              <a:gdLst/>
              <a:ahLst/>
              <a:cxnLst/>
              <a:rect l="l" t="t" r="r" b="b"/>
              <a:pathLst>
                <a:path w="2571750" h="4000500">
                  <a:moveTo>
                    <a:pt x="57150" y="0"/>
                  </a:moveTo>
                  <a:lnTo>
                    <a:pt x="2514600" y="0"/>
                  </a:lnTo>
                  <a:cubicBezTo>
                    <a:pt x="2546163" y="0"/>
                    <a:pt x="2571750" y="25587"/>
                    <a:pt x="2571750" y="57150"/>
                  </a:cubicBezTo>
                  <a:lnTo>
                    <a:pt x="2571750" y="3943350"/>
                  </a:lnTo>
                  <a:cubicBezTo>
                    <a:pt x="2571750" y="3974913"/>
                    <a:pt x="2546163" y="4000500"/>
                    <a:pt x="2514600" y="4000500"/>
                  </a:cubicBezTo>
                  <a:lnTo>
                    <a:pt x="57150" y="4000500"/>
                  </a:lnTo>
                  <a:cubicBezTo>
                    <a:pt x="25587" y="4000500"/>
                    <a:pt x="0" y="3974913"/>
                    <a:pt x="0" y="3943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0392B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714500"/>
              <a:ext cx="2571750" cy="47625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61760" y="18992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药品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6464618" y="2418874"/>
              <a:ext cx="1565458" cy="2334101"/>
              <a:chOff x="6464618" y="2418874"/>
              <a:chExt cx="1565458" cy="2334101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6464618" y="2418874"/>
                <a:ext cx="13054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☑ 个人慢病药 × 7 天量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64618" y="2704624"/>
                <a:ext cx="12534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晕车药(山路 4-5h)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64618" y="2990374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止泻药 + 口服补液盐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464618" y="327612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感冒药 + 退烧药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64618" y="3561874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创可贴 + 碘伏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4618" y="3847624"/>
                <a:ext cx="15654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D4A017"/>
                    </a:solidFill>
                    <a:latin typeface="Segoe UI"/>
                    <a:ea typeface="Microsoft YaHei"/>
                    <a:cs typeface="Segoe UI"/>
                  </a:rPr>
                  <a:t>⚠ 伊真火山硫磺刺激呼吸道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65570" y="4189095"/>
                <a:ext cx="4489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现场租: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5570" y="43795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防毒面具(伊真,50k IDR)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465570" y="4570095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防寒大衣(布罗莫,50k IDR)</a:t>
                </a:r>
              </a:p>
            </p:txBody>
          </p:sp>
        </p:grpSp>
        <p:sp>
          <p:nvSpPr>
            <p:cNvPr id="45" name="Freeform 45"/>
            <p:cNvSpPr/>
            <p:nvPr/>
          </p:nvSpPr>
          <p:spPr>
            <a:xfrm>
              <a:off x="9048750" y="1714500"/>
              <a:ext cx="2571750" cy="4000500"/>
            </a:xfrm>
            <a:custGeom>
              <a:avLst/>
              <a:gdLst/>
              <a:ahLst/>
              <a:cxnLst/>
              <a:rect l="l" t="t" r="r" b="b"/>
              <a:pathLst>
                <a:path w="2571750" h="4000500">
                  <a:moveTo>
                    <a:pt x="57150" y="0"/>
                  </a:moveTo>
                  <a:lnTo>
                    <a:pt x="2514600" y="0"/>
                  </a:lnTo>
                  <a:cubicBezTo>
                    <a:pt x="2546163" y="0"/>
                    <a:pt x="2571750" y="25587"/>
                    <a:pt x="2571750" y="57150"/>
                  </a:cubicBezTo>
                  <a:lnTo>
                    <a:pt x="2571750" y="3943350"/>
                  </a:lnTo>
                  <a:cubicBezTo>
                    <a:pt x="2571750" y="3974913"/>
                    <a:pt x="2546163" y="4000500"/>
                    <a:pt x="2514600" y="4000500"/>
                  </a:cubicBezTo>
                  <a:lnTo>
                    <a:pt x="57150" y="4000500"/>
                  </a:lnTo>
                  <a:cubicBezTo>
                    <a:pt x="25587" y="4000500"/>
                    <a:pt x="0" y="3974913"/>
                    <a:pt x="0" y="3943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4A017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048750" y="1714500"/>
              <a:ext cx="2571750" cy="47625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24010" y="1899285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财务 + 通讯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9226868" y="2418874"/>
              <a:ext cx="1812488" cy="2334101"/>
              <a:chOff x="9226868" y="2418874"/>
              <a:chExt cx="1812488" cy="2334101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9226868" y="2418874"/>
                <a:ext cx="18124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☑ 美元 200 现金(落地签+小费)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226868" y="2704624"/>
                <a:ext cx="17084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☑ 双币信用卡(Visa/Master)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226868" y="2990374"/>
                <a:ext cx="15654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印尼盾(机场换 100-200)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226868" y="3276124"/>
                <a:ext cx="1318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eSIM 印尼 7 日 30GB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226868" y="356187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漫游保险确认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226868" y="3847624"/>
                <a:ext cx="15524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☐ 紧急现金 3000 元(国内)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227820" y="4189095"/>
                <a:ext cx="3288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提醒: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227820" y="43795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小商贩只收现金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227820" y="4570095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酒店+大店可刷卡</a:t>
                </a:r>
              </a:p>
            </p:txBody>
          </p:sp>
        </p:grpSp>
      </p:grpSp>
      <p:sp>
        <p:nvSpPr>
          <p:cNvPr id="59" name="TextBox 59"/>
          <p:cNvSpPr txBox="1"/>
          <p:nvPr/>
        </p:nvSpPr>
        <p:spPr>
          <a:xfrm>
            <a:off x="561022" y="6578441"/>
            <a:ext cx="25732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清单为经验整理,实际以个人需要为准 · 2026-06-07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P20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58" grpId="0"/>
      <p:bldP spid="59" grpId="0"/>
      <p:bldP spid="6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7150"/>
            <a:ext cx="12192000" cy="190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70088" y="648652"/>
            <a:ext cx="12518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THE END · 决策完毕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71205" y="977265"/>
            <a:ext cx="3849591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三个选项 · 选一个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905000"/>
            <a:ext cx="3619500" cy="4000500"/>
            <a:chOff x="571500" y="1905000"/>
            <a:chExt cx="3619500" cy="4000500"/>
          </a:xfrm>
        </p:grpSpPr>
        <p:sp>
          <p:nvSpPr>
            <p:cNvPr id="7" name="Freeform 7"/>
            <p:cNvSpPr/>
            <p:nvPr/>
          </p:nvSpPr>
          <p:spPr>
            <a:xfrm>
              <a:off x="571500" y="1905000"/>
              <a:ext cx="3619500" cy="4000500"/>
            </a:xfrm>
            <a:custGeom>
              <a:avLst/>
              <a:gdLst/>
              <a:ahLst/>
              <a:cxnLst/>
              <a:rect l="l" t="t" r="r" b="b"/>
              <a:pathLst>
                <a:path w="3619500" h="4000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3905250"/>
                  </a:lnTo>
                  <a:cubicBezTo>
                    <a:pt x="3619500" y="3957855"/>
                    <a:pt x="3576855" y="4000500"/>
                    <a:pt x="3524250" y="4000500"/>
                  </a:cubicBezTo>
                  <a:lnTo>
                    <a:pt x="95250" y="4000500"/>
                  </a:lnTo>
                  <a:cubicBezTo>
                    <a:pt x="42645" y="4000500"/>
                    <a:pt x="0" y="3957855"/>
                    <a:pt x="0" y="390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0392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905000"/>
              <a:ext cx="3619500" cy="5715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8200" y="2124075"/>
              <a:ext cx="636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6EE"/>
                  </a:solidFill>
                  <a:latin typeface="Georgia"/>
                  <a:ea typeface="Microsoft YaHei"/>
                  <a:cs typeface="Georgia"/>
                </a:rPr>
                <a:t>选项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71862" y="21726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原计划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6770" y="2598420"/>
              <a:ext cx="145553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A1A"/>
                  </a:solidFill>
                  <a:latin typeface="Georgia"/>
                  <a:ea typeface="Microsoft YaHei"/>
                  <a:cs typeface="Georgia"/>
                </a:rPr>
                <a:t>7/4-7/10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3915" y="3077528"/>
              <a:ext cx="887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原班期 · 双人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57250" y="3429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3915" y="36014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价格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2960" y="3756660"/>
              <a:ext cx="142955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C0392B"/>
                  </a:solidFill>
                  <a:latin typeface="Georgia"/>
                  <a:ea typeface="Microsoft YaHei"/>
                  <a:cs typeface="Georgia"/>
                </a:rPr>
                <a:t>¥17,896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43634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动作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5820" y="4570095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点咨询管家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5820" y="4741545"/>
              <a:ext cx="808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1-3 天等回复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5820" y="491299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确认后付定金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4868" y="5228749"/>
              <a:ext cx="775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推荐度: ⭐⭐⭐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6772" y="5483066"/>
              <a:ext cx="9945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适合: 坚守原定日期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86250" y="1905000"/>
            <a:ext cx="3619500" cy="4000500"/>
            <a:chOff x="4286250" y="1905000"/>
            <a:chExt cx="3619500" cy="4000500"/>
          </a:xfrm>
        </p:grpSpPr>
        <p:sp>
          <p:nvSpPr>
            <p:cNvPr id="23" name="Freeform 23"/>
            <p:cNvSpPr/>
            <p:nvPr/>
          </p:nvSpPr>
          <p:spPr>
            <a:xfrm>
              <a:off x="4286250" y="1905000"/>
              <a:ext cx="3619500" cy="4000500"/>
            </a:xfrm>
            <a:custGeom>
              <a:avLst/>
              <a:gdLst/>
              <a:ahLst/>
              <a:cxnLst/>
              <a:rect l="l" t="t" r="r" b="b"/>
              <a:pathLst>
                <a:path w="3619500" h="4000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3905250"/>
                  </a:lnTo>
                  <a:cubicBezTo>
                    <a:pt x="3619500" y="3957855"/>
                    <a:pt x="3576855" y="4000500"/>
                    <a:pt x="3524250" y="4000500"/>
                  </a:cubicBezTo>
                  <a:lnTo>
                    <a:pt x="95250" y="4000500"/>
                  </a:lnTo>
                  <a:cubicBezTo>
                    <a:pt x="42645" y="4000500"/>
                    <a:pt x="0" y="3957855"/>
                    <a:pt x="0" y="390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3E6B5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86250" y="1905000"/>
              <a:ext cx="3619500" cy="57150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52950" y="2124075"/>
              <a:ext cx="636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6EE"/>
                  </a:solidFill>
                  <a:latin typeface="Georgia"/>
                  <a:ea typeface="Microsoft YaHei"/>
                  <a:cs typeface="Georgia"/>
                </a:rPr>
                <a:t>选项 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09603" y="2172652"/>
              <a:ext cx="5237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7月最低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41520" y="2598420"/>
              <a:ext cx="145553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A1A"/>
                  </a:solidFill>
                  <a:latin typeface="Georgia"/>
                  <a:ea typeface="Microsoft YaHei"/>
                  <a:cs typeface="Georgia"/>
                </a:rPr>
                <a:t>7/6-7/12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8665" y="3077528"/>
              <a:ext cx="10487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推后 2 天 · 双人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572000" y="3429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58665" y="36014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价格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37710" y="3756660"/>
              <a:ext cx="142955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3E6B53"/>
                  </a:solidFill>
                  <a:latin typeface="Georgia"/>
                  <a:ea typeface="Microsoft YaHei"/>
                  <a:cs typeface="Georgia"/>
                </a:rPr>
                <a:t>¥15,786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77915" y="3934778"/>
              <a:ext cx="6007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省 ¥2,110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58665" y="43634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动作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0570" y="457009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同样咨询管家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0570" y="4741545"/>
              <a:ext cx="8269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7 月单日最低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0570" y="491299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行程完全相同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59618" y="5228749"/>
              <a:ext cx="8506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推荐度: ⭐⭐⭐⭐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61522" y="5483066"/>
              <a:ext cx="8845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适合: 性价比优先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01000" y="1905000"/>
            <a:ext cx="3619500" cy="4000500"/>
            <a:chOff x="8001000" y="1905000"/>
            <a:chExt cx="3619500" cy="4000500"/>
          </a:xfrm>
        </p:grpSpPr>
        <p:sp>
          <p:nvSpPr>
            <p:cNvPr id="40" name="Freeform 40"/>
            <p:cNvSpPr/>
            <p:nvPr/>
          </p:nvSpPr>
          <p:spPr>
            <a:xfrm>
              <a:off x="8001000" y="1905000"/>
              <a:ext cx="3619500" cy="4000500"/>
            </a:xfrm>
            <a:custGeom>
              <a:avLst/>
              <a:gdLst/>
              <a:ahLst/>
              <a:cxnLst/>
              <a:rect l="l" t="t" r="r" b="b"/>
              <a:pathLst>
                <a:path w="3619500" h="4000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3905250"/>
                  </a:lnTo>
                  <a:cubicBezTo>
                    <a:pt x="3619500" y="3957855"/>
                    <a:pt x="3576855" y="4000500"/>
                    <a:pt x="3524250" y="4000500"/>
                  </a:cubicBezTo>
                  <a:lnTo>
                    <a:pt x="95250" y="4000500"/>
                  </a:lnTo>
                  <a:cubicBezTo>
                    <a:pt x="42645" y="4000500"/>
                    <a:pt x="0" y="3957855"/>
                    <a:pt x="0" y="390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F4E79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01000" y="1905000"/>
              <a:ext cx="3619500" cy="571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67700" y="2124075"/>
              <a:ext cx="636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6EE"/>
                  </a:solidFill>
                  <a:latin typeface="Georgia"/>
                  <a:ea typeface="Microsoft YaHei"/>
                  <a:cs typeface="Georgia"/>
                </a:rPr>
                <a:t>选项 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01362" y="21726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最便宜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56270" y="2598420"/>
              <a:ext cx="145553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A1A"/>
                  </a:solidFill>
                  <a:latin typeface="Georgia"/>
                  <a:ea typeface="Microsoft YaHei"/>
                  <a:cs typeface="Georgia"/>
                </a:rPr>
                <a:t>8/6-8/12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73415" y="3077528"/>
              <a:ext cx="1013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推后 1 月 · 双人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286750" y="3429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4C5A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73415" y="36014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价格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52460" y="3756660"/>
              <a:ext cx="124052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4E79"/>
                  </a:solidFill>
                  <a:latin typeface="Georgia"/>
                  <a:ea typeface="Microsoft YaHei"/>
                  <a:cs typeface="Georgia"/>
                </a:rPr>
                <a:t>¥15,114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92665" y="3934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省 ¥2,782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73415" y="43634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动作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75320" y="457009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同样咨询管家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75320" y="4741545"/>
              <a:ext cx="706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8 月雨更少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75320" y="4912995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火山视界更清晰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74368" y="5228749"/>
              <a:ext cx="9257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推荐度: ⭐⭐⭐⭐⭐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76272" y="5483066"/>
              <a:ext cx="14511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适合: 8/31 全年最低 ¥13,784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4191333" y="6189345"/>
            <a:ext cx="3809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携程 p69762187 · 21 页决策手册 · 数据 2026-06-07 · 行动 = 咨询管家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1022" y="6578441"/>
            <a:ext cx="4225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P21 / 28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309509" y="6578441"/>
            <a:ext cx="1309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727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客群分流决策树 · 真实备选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883920"/>
            <a:ext cx="379102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你是什么人?这趟选什么?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62000" y="1714500"/>
            <a:ext cx="10668000" cy="762000"/>
            <a:chOff x="762000" y="1714500"/>
            <a:chExt cx="10668000" cy="762000"/>
          </a:xfrm>
        </p:grpSpPr>
        <p:sp>
          <p:nvSpPr>
            <p:cNvPr id="6" name="Freeform 6"/>
            <p:cNvSpPr/>
            <p:nvPr/>
          </p:nvSpPr>
          <p:spPr>
            <a:xfrm>
              <a:off x="762000" y="1714500"/>
              <a:ext cx="10668000" cy="762000"/>
            </a:xfrm>
            <a:custGeom>
              <a:avLst/>
              <a:gdLst/>
              <a:ahLst/>
              <a:cxnLst/>
              <a:rect l="l" t="t" r="r" b="b"/>
              <a:pathLst>
                <a:path w="10668000" h="7620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685800"/>
                  </a:lnTo>
                  <a:cubicBezTo>
                    <a:pt x="10668000" y="727884"/>
                    <a:pt x="10633884" y="762000"/>
                    <a:pt x="1059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4890" y="1996440"/>
              <a:ext cx="191075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1A1A"/>
                  </a:solidFill>
                  <a:latin typeface="Georgia"/>
                  <a:ea typeface="Microsoft YaHei"/>
                  <a:cs typeface="Georgia"/>
                </a:rPr>
                <a:t>你是哪类旅客? →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62000" y="2667000"/>
            <a:ext cx="10810875" cy="3048000"/>
            <a:chOff x="762000" y="2667000"/>
            <a:chExt cx="10810875" cy="3048000"/>
          </a:xfrm>
        </p:grpSpPr>
        <p:sp>
          <p:nvSpPr>
            <p:cNvPr id="9" name="Freeform 9"/>
            <p:cNvSpPr/>
            <p:nvPr/>
          </p:nvSpPr>
          <p:spPr>
            <a:xfrm>
              <a:off x="762000" y="2667000"/>
              <a:ext cx="2524125" cy="3048000"/>
            </a:xfrm>
            <a:custGeom>
              <a:avLst/>
              <a:gdLst/>
              <a:ahLst/>
              <a:cxnLst/>
              <a:rect l="l" t="t" r="r" b="b"/>
              <a:pathLst>
                <a:path w="2524125" h="3048000">
                  <a:moveTo>
                    <a:pt x="76200" y="0"/>
                  </a:moveTo>
                  <a:lnTo>
                    <a:pt x="2447925" y="0"/>
                  </a:lnTo>
                  <a:cubicBezTo>
                    <a:pt x="2490009" y="0"/>
                    <a:pt x="2524125" y="34116"/>
                    <a:pt x="2524125" y="76200"/>
                  </a:cubicBezTo>
                  <a:lnTo>
                    <a:pt x="2524125" y="2971800"/>
                  </a:lnTo>
                  <a:cubicBezTo>
                    <a:pt x="2524125" y="3013884"/>
                    <a:pt x="2490009" y="3048000"/>
                    <a:pt x="2447925" y="3048000"/>
                  </a:cubicBezTo>
                  <a:lnTo>
                    <a:pt x="76200" y="3048000"/>
                  </a:lnTo>
                  <a:cubicBezTo>
                    <a:pt x="34116" y="3048000"/>
                    <a:pt x="0" y="3013884"/>
                    <a:pt x="0" y="297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3E6B5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2667000"/>
              <a:ext cx="2524125" cy="47625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8212" y="2859881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家庭亲子 · 有娃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1070" y="33318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推荐产品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3553778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p68767518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1070" y="3760470"/>
              <a:ext cx="9109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乌布+金巴兰 7日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1070" y="4046220"/>
              <a:ext cx="10687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14 景点 · 行程轻松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1070" y="4236720"/>
              <a:ext cx="10813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 购物 · 70 岁可订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1070" y="4427220"/>
              <a:ext cx="684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2-12 岁可订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47129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不推荐布罗莫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1070" y="490347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凌晨 3 点火山太累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1070" y="509397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浮潜/追海豚娃不适合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0118" y="5371624"/>
              <a:ext cx="823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价格: 需咨询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3524250" y="2667000"/>
              <a:ext cx="2524125" cy="3048000"/>
            </a:xfrm>
            <a:custGeom>
              <a:avLst/>
              <a:gdLst/>
              <a:ahLst/>
              <a:cxnLst/>
              <a:rect l="l" t="t" r="r" b="b"/>
              <a:pathLst>
                <a:path w="2524125" h="3048000">
                  <a:moveTo>
                    <a:pt x="76200" y="0"/>
                  </a:moveTo>
                  <a:lnTo>
                    <a:pt x="2447925" y="0"/>
                  </a:lnTo>
                  <a:cubicBezTo>
                    <a:pt x="2490009" y="0"/>
                    <a:pt x="2524125" y="34116"/>
                    <a:pt x="2524125" y="76200"/>
                  </a:cubicBezTo>
                  <a:lnTo>
                    <a:pt x="2524125" y="2971800"/>
                  </a:lnTo>
                  <a:cubicBezTo>
                    <a:pt x="2524125" y="3013884"/>
                    <a:pt x="2490009" y="3048000"/>
                    <a:pt x="2447925" y="3048000"/>
                  </a:cubicBezTo>
                  <a:lnTo>
                    <a:pt x="76200" y="3048000"/>
                  </a:lnTo>
                  <a:cubicBezTo>
                    <a:pt x="34116" y="3048000"/>
                    <a:pt x="0" y="3013884"/>
                    <a:pt x="0" y="297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0392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524250" y="2667000"/>
              <a:ext cx="2524125" cy="47625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00462" y="2859881"/>
              <a:ext cx="12336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情侣/年轻人(本)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03320" y="33318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推荐产品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01415" y="3553778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p69762187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03320" y="3760470"/>
              <a:ext cx="1066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印尼双火山 7日 6晚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3320" y="4046220"/>
              <a:ext cx="1100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布罗莫+伊真双火山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03320" y="4236720"/>
              <a:ext cx="13208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 景点 · 含佩妮达浮潜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3320" y="4427220"/>
              <a:ext cx="10624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凌晨 3 点 + 200 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3320" y="4712970"/>
              <a:ext cx="11507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评分 5.0 · 适合你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03320" y="4903470"/>
              <a:ext cx="1066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7/4 双人 ¥17,896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03320" y="5093970"/>
              <a:ext cx="10909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7/6 出发省 ¥2,110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02368" y="5371624"/>
              <a:ext cx="10418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价格: ¥7,893 起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286500" y="2667000"/>
              <a:ext cx="2524125" cy="3048000"/>
            </a:xfrm>
            <a:custGeom>
              <a:avLst/>
              <a:gdLst/>
              <a:ahLst/>
              <a:cxnLst/>
              <a:rect l="l" t="t" r="r" b="b"/>
              <a:pathLst>
                <a:path w="2524125" h="3048000">
                  <a:moveTo>
                    <a:pt x="76200" y="0"/>
                  </a:moveTo>
                  <a:lnTo>
                    <a:pt x="2447925" y="0"/>
                  </a:lnTo>
                  <a:cubicBezTo>
                    <a:pt x="2490009" y="0"/>
                    <a:pt x="2524125" y="34116"/>
                    <a:pt x="2524125" y="76200"/>
                  </a:cubicBezTo>
                  <a:lnTo>
                    <a:pt x="2524125" y="2971800"/>
                  </a:lnTo>
                  <a:cubicBezTo>
                    <a:pt x="2524125" y="3013884"/>
                    <a:pt x="2490009" y="3048000"/>
                    <a:pt x="2447925" y="3048000"/>
                  </a:cubicBezTo>
                  <a:lnTo>
                    <a:pt x="76200" y="3048000"/>
                  </a:lnTo>
                  <a:cubicBezTo>
                    <a:pt x="34116" y="3048000"/>
                    <a:pt x="0" y="3013884"/>
                    <a:pt x="0" y="297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F4E79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86500" y="2667000"/>
              <a:ext cx="2524125" cy="4762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62712" y="2859881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海岛专享 · 怕火山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5570" y="33318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推荐产品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3665" y="3553778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p24528521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5570" y="3760470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巴厘岛+蓝梦岛 7日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5570" y="4046220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双岛出海 · 5 钻含阿雅娜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5570" y="4236720"/>
              <a:ext cx="104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秋千 · 阿勇河漂流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5570" y="4427220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 钻连住 · 无凌晨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5570" y="471297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不累 · 度假感最强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5570" y="4903470"/>
              <a:ext cx="11870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11,159 起 · 5 钻配置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5570" y="5093970"/>
              <a:ext cx="898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双人 ~¥22,318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4618" y="5371624"/>
              <a:ext cx="1014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价格: ¥11,159 起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9048750" y="2667000"/>
              <a:ext cx="2524125" cy="3048000"/>
            </a:xfrm>
            <a:custGeom>
              <a:avLst/>
              <a:gdLst/>
              <a:ahLst/>
              <a:cxnLst/>
              <a:rect l="l" t="t" r="r" b="b"/>
              <a:pathLst>
                <a:path w="2524125" h="3048000">
                  <a:moveTo>
                    <a:pt x="76200" y="0"/>
                  </a:moveTo>
                  <a:lnTo>
                    <a:pt x="2447925" y="0"/>
                  </a:lnTo>
                  <a:cubicBezTo>
                    <a:pt x="2490009" y="0"/>
                    <a:pt x="2524125" y="34116"/>
                    <a:pt x="2524125" y="76200"/>
                  </a:cubicBezTo>
                  <a:lnTo>
                    <a:pt x="2524125" y="2971800"/>
                  </a:lnTo>
                  <a:cubicBezTo>
                    <a:pt x="2524125" y="3013884"/>
                    <a:pt x="2490009" y="3048000"/>
                    <a:pt x="2447925" y="3048000"/>
                  </a:cubicBezTo>
                  <a:lnTo>
                    <a:pt x="76200" y="3048000"/>
                  </a:lnTo>
                  <a:cubicBezTo>
                    <a:pt x="34116" y="3048000"/>
                    <a:pt x="0" y="3013884"/>
                    <a:pt x="0" y="297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D4A017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048750" y="2667000"/>
              <a:ext cx="2524125" cy="47625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24962" y="2859881"/>
              <a:ext cx="9028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AF6EE"/>
                  </a:solidFill>
                  <a:latin typeface="Segoe UI"/>
                  <a:ea typeface="Microsoft YaHei"/>
                  <a:cs typeface="Segoe UI"/>
                </a:rPr>
                <a:t>退休/带老人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27820" y="33318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推荐产品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25915" y="3553778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p50844414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27820" y="3760470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泗水+巴厘岛 7日 5晚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27820" y="4046220"/>
              <a:ext cx="12956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布罗莫+罗威纳+佩妮达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27820" y="4236720"/>
              <a:ext cx="1220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评分 5.0 · 30 人小团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27820" y="4427220"/>
              <a:ext cx="1175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英语司机 · 强度可调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27820" y="4712970"/>
              <a:ext cx="1012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强度低于本产品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27820" y="4903470"/>
              <a:ext cx="11990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3,951 起 · 价格诱人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27820" y="5093970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· 但有凌晨行程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26868" y="5371624"/>
              <a:ext cx="10076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价格: ¥3,951 起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49618" y="5800249"/>
            <a:ext cx="4794408" cy="381476"/>
            <a:chOff x="749618" y="5800249"/>
            <a:chExt cx="4794408" cy="381476"/>
          </a:xfrm>
        </p:grpSpPr>
        <p:sp>
          <p:nvSpPr>
            <p:cNvPr id="62" name="TextBox 62"/>
            <p:cNvSpPr txBox="1"/>
            <p:nvPr/>
          </p:nvSpPr>
          <p:spPr>
            <a:xfrm>
              <a:off x="749618" y="5800249"/>
              <a:ext cx="2400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距 7/4 出发 27 天 · 4 选 1 决策时间表: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0570" y="5998845"/>
              <a:ext cx="47934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7/4 出发 → 立刻点咨询管家(暑期限库存) · 7/6 出发 → 7/3 前订 · 8/6 出发 → 7/15 前订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561022" y="6578441"/>
            <a:ext cx="30243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数据:wendao 客群分流查询 + 携程 4 真实产品 · 2026-06-07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P22 / 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9120" y="483870"/>
            <a:ext cx="402625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P23 · 风险预案与退路规划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4360" y="899160"/>
            <a:ext cx="48630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Contingency Plan · 4 大不可逆风险 + 4 条具体退路 · 旅客视角必读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7218" y="1132999"/>
            <a:ext cx="23933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⚠ 数据:携程主接口 × wendao 双源核实</a:t>
            </a:r>
          </a:p>
        </p:txBody>
      </p:sp>
      <p:sp>
        <p:nvSpPr>
          <p:cNvPr id="8" name="Freeform 8"/>
          <p:cNvSpPr/>
          <p:nvPr/>
        </p:nvSpPr>
        <p:spPr>
          <a:xfrm>
            <a:off x="381000" y="1524000"/>
            <a:ext cx="2762250" cy="2476500"/>
          </a:xfrm>
          <a:custGeom>
            <a:avLst/>
            <a:gdLst/>
            <a:ahLst/>
            <a:cxnLst/>
            <a:rect l="l" t="t" r="r" b="b"/>
            <a:pathLst>
              <a:path w="2762250" h="2476500">
                <a:moveTo>
                  <a:pt x="57150" y="0"/>
                </a:moveTo>
                <a:lnTo>
                  <a:pt x="2705100" y="0"/>
                </a:lnTo>
                <a:cubicBezTo>
                  <a:pt x="2736663" y="0"/>
                  <a:pt x="2762250" y="25587"/>
                  <a:pt x="2762250" y="57150"/>
                </a:cubicBezTo>
                <a:lnTo>
                  <a:pt x="2762250" y="2419350"/>
                </a:lnTo>
                <a:cubicBezTo>
                  <a:pt x="2762250" y="2450913"/>
                  <a:pt x="2736663" y="2476500"/>
                  <a:pt x="2705100" y="2476500"/>
                </a:cubicBezTo>
                <a:lnTo>
                  <a:pt x="57150" y="2476500"/>
                </a:lnTo>
                <a:cubicBezTo>
                  <a:pt x="25587" y="2476500"/>
                  <a:pt x="0" y="2450913"/>
                  <a:pt x="0" y="2419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0392B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524000"/>
            <a:ext cx="2762250" cy="3429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18160" y="1623060"/>
            <a:ext cx="18619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风险 1 · 布罗莫凌晨 3 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1970" y="1998345"/>
            <a:ext cx="344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症状: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2922" y="2196941"/>
            <a:ext cx="1682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凌晨 3:00 出发(海拔 2,329 米)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2922" y="2368391"/>
            <a:ext cx="1121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沙海徒步 + 硫磺烟雾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2922" y="253984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温差 8°C → 22°C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1970" y="2798445"/>
            <a:ext cx="596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禁忌人群: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2922" y="2997041"/>
            <a:ext cx="12641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心脏疾病 · 高血压 · 孕妇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2922" y="3168491"/>
            <a:ext cx="12256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老人 65+ · 5 岁以下儿童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2922" y="333994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哮喘 / 呼吸道疾病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1970" y="3598545"/>
            <a:ext cx="13586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✅ 退路 (wendao 备选):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3875" y="3805238"/>
            <a:ext cx="129921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A. 吉普车沙海 (不下火山口)</a:t>
            </a:r>
          </a:p>
        </p:txBody>
      </p:sp>
      <p:sp>
        <p:nvSpPr>
          <p:cNvPr id="21" name="Freeform 21"/>
          <p:cNvSpPr/>
          <p:nvPr/>
        </p:nvSpPr>
        <p:spPr>
          <a:xfrm>
            <a:off x="3286125" y="1524000"/>
            <a:ext cx="2762250" cy="2476500"/>
          </a:xfrm>
          <a:custGeom>
            <a:avLst/>
            <a:gdLst/>
            <a:ahLst/>
            <a:cxnLst/>
            <a:rect l="l" t="t" r="r" b="b"/>
            <a:pathLst>
              <a:path w="2762250" h="2476500">
                <a:moveTo>
                  <a:pt x="57150" y="0"/>
                </a:moveTo>
                <a:lnTo>
                  <a:pt x="2705100" y="0"/>
                </a:lnTo>
                <a:cubicBezTo>
                  <a:pt x="2736663" y="0"/>
                  <a:pt x="2762250" y="25587"/>
                  <a:pt x="2762250" y="57150"/>
                </a:cubicBezTo>
                <a:lnTo>
                  <a:pt x="2762250" y="2419350"/>
                </a:lnTo>
                <a:cubicBezTo>
                  <a:pt x="2762250" y="2450913"/>
                  <a:pt x="2736663" y="2476500"/>
                  <a:pt x="2705100" y="2476500"/>
                </a:cubicBezTo>
                <a:lnTo>
                  <a:pt x="57150" y="2476500"/>
                </a:lnTo>
                <a:cubicBezTo>
                  <a:pt x="25587" y="2476500"/>
                  <a:pt x="0" y="2450913"/>
                  <a:pt x="0" y="2419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0392B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3286125" y="1524000"/>
            <a:ext cx="2762250" cy="3429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423285" y="16230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风险 2 · 伊真蓝火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27095" y="1998345"/>
            <a:ext cx="344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症状: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28048" y="2196941"/>
            <a:ext cx="1121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凌晨徒步 2 公里上山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28048" y="2368391"/>
            <a:ext cx="12971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硫磺浓烟 (酸度 pH 0.5)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28048" y="2539841"/>
            <a:ext cx="13686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蓝火非必现 (受风向影响)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7095" y="2798445"/>
            <a:ext cx="596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禁忌人群: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28048" y="299704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呼吸系统疾病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28048" y="3168491"/>
            <a:ext cx="9340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孕妇 · 老人 · 儿童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28048" y="333994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戴隐形眼镜者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27095" y="3598545"/>
            <a:ext cx="13586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✅ 退路 (wendao 备选):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29000" y="3805238"/>
            <a:ext cx="11741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A. 蓝火关闭 → 改为白天硫</a:t>
            </a:r>
          </a:p>
        </p:txBody>
      </p:sp>
      <p:sp>
        <p:nvSpPr>
          <p:cNvPr id="34" name="Freeform 34"/>
          <p:cNvSpPr/>
          <p:nvPr/>
        </p:nvSpPr>
        <p:spPr>
          <a:xfrm>
            <a:off x="6191250" y="1524000"/>
            <a:ext cx="2762250" cy="2476500"/>
          </a:xfrm>
          <a:custGeom>
            <a:avLst/>
            <a:gdLst/>
            <a:ahLst/>
            <a:cxnLst/>
            <a:rect l="l" t="t" r="r" b="b"/>
            <a:pathLst>
              <a:path w="2762250" h="2476500">
                <a:moveTo>
                  <a:pt x="57150" y="0"/>
                </a:moveTo>
                <a:lnTo>
                  <a:pt x="2705100" y="0"/>
                </a:lnTo>
                <a:cubicBezTo>
                  <a:pt x="2736663" y="0"/>
                  <a:pt x="2762250" y="25587"/>
                  <a:pt x="2762250" y="57150"/>
                </a:cubicBezTo>
                <a:lnTo>
                  <a:pt x="2762250" y="2419350"/>
                </a:lnTo>
                <a:cubicBezTo>
                  <a:pt x="2762250" y="2450913"/>
                  <a:pt x="2736663" y="2476500"/>
                  <a:pt x="2705100" y="2476500"/>
                </a:cubicBezTo>
                <a:lnTo>
                  <a:pt x="57150" y="2476500"/>
                </a:lnTo>
                <a:cubicBezTo>
                  <a:pt x="25587" y="2476500"/>
                  <a:pt x="0" y="2450913"/>
                  <a:pt x="0" y="2419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D4A017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191250" y="1524000"/>
            <a:ext cx="2762250" cy="3429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328410" y="1623060"/>
            <a:ext cx="1349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风险 3 · 7 月气候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32220" y="1998345"/>
            <a:ext cx="1213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真实数据 (wendao):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33172" y="2196941"/>
            <a:ext cx="13411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泗水 31.5°C / 雨量 15mm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33172" y="2368391"/>
            <a:ext cx="13851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巴厘岛 29°C / 雨量 60mm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33172" y="2539841"/>
            <a:ext cx="14995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E6B53"/>
                </a:solidFill>
                <a:latin typeface="Segoe UI"/>
                <a:ea typeface="Microsoft YaHei"/>
                <a:cs typeface="Segoe UI"/>
              </a:rPr>
              <a:t>✅ 均为旱季尾段 (7/4 仍 OK)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32220" y="2798445"/>
            <a:ext cx="5773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⚠ 风险点: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33172" y="2997041"/>
            <a:ext cx="10440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火山活动期 不可预测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33172" y="3168491"/>
            <a:ext cx="10110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极端天气封路 1-2 天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33172" y="3339941"/>
            <a:ext cx="10550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航班延误 (雨季高发)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32220" y="3598545"/>
            <a:ext cx="4513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✅ 退路: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334125" y="3805238"/>
            <a:ext cx="959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A. 提前买航班延误险</a:t>
            </a:r>
          </a:p>
        </p:txBody>
      </p:sp>
      <p:sp>
        <p:nvSpPr>
          <p:cNvPr id="47" name="Freeform 47"/>
          <p:cNvSpPr/>
          <p:nvPr/>
        </p:nvSpPr>
        <p:spPr>
          <a:xfrm>
            <a:off x="9096375" y="1524000"/>
            <a:ext cx="2762250" cy="2476500"/>
          </a:xfrm>
          <a:custGeom>
            <a:avLst/>
            <a:gdLst/>
            <a:ahLst/>
            <a:cxnLst/>
            <a:rect l="l" t="t" r="r" b="b"/>
            <a:pathLst>
              <a:path w="2762250" h="2476500">
                <a:moveTo>
                  <a:pt x="57150" y="0"/>
                </a:moveTo>
                <a:lnTo>
                  <a:pt x="2705100" y="0"/>
                </a:lnTo>
                <a:cubicBezTo>
                  <a:pt x="2736663" y="0"/>
                  <a:pt x="2762250" y="25587"/>
                  <a:pt x="2762250" y="57150"/>
                </a:cubicBezTo>
                <a:lnTo>
                  <a:pt x="2762250" y="2419350"/>
                </a:lnTo>
                <a:cubicBezTo>
                  <a:pt x="2762250" y="2450913"/>
                  <a:pt x="2736663" y="2476500"/>
                  <a:pt x="2705100" y="2476500"/>
                </a:cubicBezTo>
                <a:lnTo>
                  <a:pt x="57150" y="2476500"/>
                </a:lnTo>
                <a:cubicBezTo>
                  <a:pt x="25587" y="2476500"/>
                  <a:pt x="0" y="2450913"/>
                  <a:pt x="0" y="2419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D4A017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9096375" y="1524000"/>
            <a:ext cx="2762250" cy="3429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233535" y="1623060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风险 4 · 卫生 / 签证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237345" y="1998345"/>
            <a:ext cx="1226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真实费用 (FeeInfo):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238298" y="2196941"/>
            <a:ext cx="10990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印尼旅游税 IDR 150K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238298" y="2368391"/>
            <a:ext cx="12696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落地签 USD 35 (≈¥238)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238298" y="2539841"/>
            <a:ext cx="1000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小费预算 ¥200/人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237345" y="2798445"/>
            <a:ext cx="4513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⚠ 健康: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238298" y="2997041"/>
            <a:ext cx="12751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登革热蚊虫 (巴厘岛高发)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238298" y="316849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备驱蚊液 / 长袖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38298" y="33399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饮用水务必瓶装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237345" y="3598545"/>
            <a:ext cx="4513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✅ 退路: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239250" y="3805238"/>
            <a:ext cx="11091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A. 买境外旅游险 ¥80/人</a:t>
            </a:r>
          </a:p>
        </p:txBody>
      </p:sp>
      <p:sp>
        <p:nvSpPr>
          <p:cNvPr id="60" name="Freeform 60"/>
          <p:cNvSpPr/>
          <p:nvPr/>
        </p:nvSpPr>
        <p:spPr>
          <a:xfrm>
            <a:off x="381000" y="4286250"/>
            <a:ext cx="11477625" cy="2286000"/>
          </a:xfrm>
          <a:custGeom>
            <a:avLst/>
            <a:gdLst/>
            <a:ahLst/>
            <a:cxnLst/>
            <a:rect l="l" t="t" r="r" b="b"/>
            <a:pathLst>
              <a:path w="11477625" h="2286000">
                <a:moveTo>
                  <a:pt x="57150" y="0"/>
                </a:moveTo>
                <a:lnTo>
                  <a:pt x="11420475" y="0"/>
                </a:lnTo>
                <a:cubicBezTo>
                  <a:pt x="11452038" y="0"/>
                  <a:pt x="11477625" y="25587"/>
                  <a:pt x="11477625" y="57150"/>
                </a:cubicBezTo>
                <a:lnTo>
                  <a:pt x="11477625" y="2228850"/>
                </a:lnTo>
                <a:cubicBezTo>
                  <a:pt x="11477625" y="2260413"/>
                  <a:pt x="11452038" y="2286000"/>
                  <a:pt x="11420475" y="2286000"/>
                </a:cubicBezTo>
                <a:lnTo>
                  <a:pt x="57150" y="2286000"/>
                </a:lnTo>
                <a:cubicBezTo>
                  <a:pt x="25587" y="2286000"/>
                  <a:pt x="0" y="2260413"/>
                  <a:pt x="0" y="2228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F4E79"/>
            </a:solidFill>
          </a:ln>
        </p:spPr>
      </p:sp>
      <p:sp>
        <p:nvSpPr>
          <p:cNvPr id="61" name="Rectangle 61"/>
          <p:cNvSpPr/>
          <p:nvPr/>
        </p:nvSpPr>
        <p:spPr>
          <a:xfrm>
            <a:off x="381000" y="4286250"/>
            <a:ext cx="11477625" cy="381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554355" y="4407218"/>
            <a:ext cx="42211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 条具体退路 (Plan B) · 携程 + wendao 联合核实</a:t>
            </a:r>
          </a:p>
        </p:txBody>
      </p:sp>
      <p:sp>
        <p:nvSpPr>
          <p:cNvPr id="63" name="Freeform 63"/>
          <p:cNvSpPr/>
          <p:nvPr/>
        </p:nvSpPr>
        <p:spPr>
          <a:xfrm>
            <a:off x="571500" y="485775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1485900"/>
                </a:lnTo>
                <a:cubicBezTo>
                  <a:pt x="2667000" y="1506942"/>
                  <a:pt x="2649942" y="1524000"/>
                  <a:pt x="2628900" y="1524000"/>
                </a:cubicBezTo>
                <a:lnTo>
                  <a:pt x="38100" y="1524000"/>
                </a:lnTo>
                <a:cubicBezTo>
                  <a:pt x="17058" y="1524000"/>
                  <a:pt x="0" y="1506942"/>
                  <a:pt x="0" y="1485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AF6EE"/>
          </a:solidFill>
          <a:ln w="9525">
            <a:solidFill>
              <a:srgbClr val="1F4E79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710565" y="4973002"/>
            <a:ext cx="13865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Plan B1 · 布罗莫替代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13422" y="5225891"/>
            <a:ext cx="9285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心脏/高龄走 3 步: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14375" y="5405438"/>
            <a:ext cx="10441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① 吉普车沙海 (海拔低)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14375" y="5557838"/>
            <a:ext cx="124420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② 日间远观台 (不爬火山口)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14375" y="5710238"/>
            <a:ext cx="11441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③ 泗水市内短途 (城市游)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14375" y="6015038"/>
            <a:ext cx="10166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E6B53"/>
                </a:solidFill>
                <a:latin typeface="Segoe UI"/>
                <a:ea typeface="Microsoft YaHei"/>
                <a:cs typeface="Segoe UI"/>
              </a:rPr>
              <a:t>✓ wendao 3 替代方案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14375" y="6186488"/>
            <a:ext cx="904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✓ 携程可签转团协议</a:t>
            </a:r>
          </a:p>
        </p:txBody>
      </p:sp>
      <p:sp>
        <p:nvSpPr>
          <p:cNvPr id="71" name="Freeform 71"/>
          <p:cNvSpPr/>
          <p:nvPr/>
        </p:nvSpPr>
        <p:spPr>
          <a:xfrm>
            <a:off x="3333750" y="485775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1485900"/>
                </a:lnTo>
                <a:cubicBezTo>
                  <a:pt x="2667000" y="1506942"/>
                  <a:pt x="2649942" y="1524000"/>
                  <a:pt x="2628900" y="1524000"/>
                </a:cubicBezTo>
                <a:lnTo>
                  <a:pt x="38100" y="1524000"/>
                </a:lnTo>
                <a:cubicBezTo>
                  <a:pt x="17058" y="1524000"/>
                  <a:pt x="0" y="1506942"/>
                  <a:pt x="0" y="1485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AF6EE"/>
          </a:solidFill>
          <a:ln w="9525">
            <a:solidFill>
              <a:srgbClr val="1F4E79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3472815" y="497300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Plan B2 · 伊真替代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475672" y="5225891"/>
            <a:ext cx="868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蓝火关闭走 2 步: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476625" y="5405438"/>
            <a:ext cx="10191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① 改白天硫磺湖 + 矿工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476625" y="5557838"/>
            <a:ext cx="8941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② 巴厘岛海滨 1 日游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476625" y="5710238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③ 转佩妮达 / 罗威那追海豚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476625" y="6015038"/>
            <a:ext cx="8696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E6B53"/>
                </a:solidFill>
                <a:latin typeface="Segoe UI"/>
                <a:ea typeface="Microsoft YaHei"/>
                <a:cs typeface="Segoe UI"/>
              </a:rPr>
              <a:t>✓ 伊真 30% 关闭率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476625" y="6186488"/>
            <a:ext cx="904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✓ 当地旅行社即时改</a:t>
            </a:r>
          </a:p>
        </p:txBody>
      </p:sp>
      <p:sp>
        <p:nvSpPr>
          <p:cNvPr id="79" name="Freeform 79"/>
          <p:cNvSpPr/>
          <p:nvPr/>
        </p:nvSpPr>
        <p:spPr>
          <a:xfrm>
            <a:off x="6096000" y="485775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1485900"/>
                </a:lnTo>
                <a:cubicBezTo>
                  <a:pt x="2667000" y="1506942"/>
                  <a:pt x="2649942" y="1524000"/>
                  <a:pt x="2628900" y="1524000"/>
                </a:cubicBezTo>
                <a:lnTo>
                  <a:pt x="38100" y="1524000"/>
                </a:lnTo>
                <a:cubicBezTo>
                  <a:pt x="17058" y="1524000"/>
                  <a:pt x="0" y="1506942"/>
                  <a:pt x="0" y="1485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AF6EE"/>
          </a:solidFill>
          <a:ln w="9525">
            <a:solidFill>
              <a:srgbClr val="1F4E79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6235065" y="497300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Plan B3 · 航班延误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237922" y="5225891"/>
            <a:ext cx="868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暴雨改签走 3 步: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238875" y="5405438"/>
            <a:ext cx="11091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① 携程"航班无忧"险 ¥60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238875" y="5557838"/>
            <a:ext cx="8041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② 改同航司下一班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238875" y="5710238"/>
            <a:ext cx="10041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③ 损失由酒店延住险补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238875" y="6015038"/>
            <a:ext cx="89591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E6B53"/>
                </a:solidFill>
                <a:latin typeface="Segoe UI"/>
                <a:ea typeface="Microsoft YaHei"/>
                <a:cs typeface="Segoe UI"/>
              </a:rPr>
              <a:t>✓ 推荐:航延险 ¥60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238875" y="6186488"/>
            <a:ext cx="10991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✓ 7/4 雨季前段风险中等</a:t>
            </a:r>
          </a:p>
        </p:txBody>
      </p:sp>
      <p:sp>
        <p:nvSpPr>
          <p:cNvPr id="87" name="Freeform 87"/>
          <p:cNvSpPr/>
          <p:nvPr/>
        </p:nvSpPr>
        <p:spPr>
          <a:xfrm>
            <a:off x="8858250" y="485775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1485900"/>
                </a:lnTo>
                <a:cubicBezTo>
                  <a:pt x="2667000" y="1506942"/>
                  <a:pt x="2649942" y="1524000"/>
                  <a:pt x="2628900" y="1524000"/>
                </a:cubicBezTo>
                <a:lnTo>
                  <a:pt x="38100" y="1524000"/>
                </a:lnTo>
                <a:cubicBezTo>
                  <a:pt x="17058" y="1524000"/>
                  <a:pt x="0" y="1506942"/>
                  <a:pt x="0" y="1485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AF6EE"/>
          </a:solidFill>
          <a:ln w="9525">
            <a:solidFill>
              <a:srgbClr val="1F4E79"/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8997315" y="497300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Plan B4 · 健康问题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9000172" y="5225891"/>
            <a:ext cx="868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水土不服走 3 步: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1125" y="5405438"/>
            <a:ext cx="10191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① 出门前 7 天服益生菌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001125" y="5557838"/>
            <a:ext cx="9191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② 备常用药 + 防蚊液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001125" y="5710238"/>
            <a:ext cx="10541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③ 境外险含医疗 ¥80/人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001125" y="6015038"/>
            <a:ext cx="9011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E6B53"/>
                </a:solidFill>
                <a:latin typeface="Segoe UI"/>
                <a:ea typeface="Microsoft YaHei"/>
                <a:cs typeface="Segoe UI"/>
              </a:rPr>
              <a:t>✓ 推荐:平安境外险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001125" y="6186488"/>
            <a:ext cx="9541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✓ 双人共 ¥160 (7 天)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9120" y="483870"/>
            <a:ext cx="26820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P24 · 决策倒计时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4360" y="899160"/>
            <a:ext cx="43190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Decision Countdown · 距 7/4 出发还有 27 天 (基准日 6/7)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7218" y="1132999"/>
            <a:ext cx="3389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⏰ 4 个关键窗口期:每阶段价格/库存/退改政策 差异显著</a:t>
            </a:r>
          </a:p>
        </p:txBody>
      </p:sp>
      <p:sp>
        <p:nvSpPr>
          <p:cNvPr id="8" name="Freeform 8"/>
          <p:cNvSpPr/>
          <p:nvPr/>
        </p:nvSpPr>
        <p:spPr>
          <a:xfrm>
            <a:off x="381000" y="1524000"/>
            <a:ext cx="3810000" cy="2095500"/>
          </a:xfrm>
          <a:custGeom>
            <a:avLst/>
            <a:gdLst/>
            <a:ahLst/>
            <a:cxnLst/>
            <a:rect l="l" t="t" r="r" b="b"/>
            <a:pathLst>
              <a:path w="3810000" h="2095500">
                <a:moveTo>
                  <a:pt x="76200" y="0"/>
                </a:moveTo>
                <a:lnTo>
                  <a:pt x="3733800" y="0"/>
                </a:lnTo>
                <a:cubicBezTo>
                  <a:pt x="3775884" y="0"/>
                  <a:pt x="3810000" y="34116"/>
                  <a:pt x="3810000" y="76200"/>
                </a:cubicBezTo>
                <a:lnTo>
                  <a:pt x="3810000" y="2019300"/>
                </a:lnTo>
                <a:cubicBezTo>
                  <a:pt x="3810000" y="2061384"/>
                  <a:pt x="3775884" y="2095500"/>
                  <a:pt x="37338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177546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距 7/4 出发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6750" y="195262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27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51710" y="2470785"/>
            <a:ext cx="42862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3029902"/>
            <a:ext cx="16018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6/7 (今天) → 7/4 (周六)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3293745"/>
            <a:ext cx="1211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价格已含双人 ¥17,896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3503295"/>
            <a:ext cx="13910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暑期旺季 · 库存 72% 已售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59605" y="1568768"/>
            <a:ext cx="1329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 阶段关键节点</a:t>
            </a:r>
          </a:p>
        </p:txBody>
      </p:sp>
      <p:sp>
        <p:nvSpPr>
          <p:cNvPr id="16" name="Freeform 16"/>
          <p:cNvSpPr/>
          <p:nvPr/>
        </p:nvSpPr>
        <p:spPr>
          <a:xfrm>
            <a:off x="4476750" y="1905000"/>
            <a:ext cx="7381875" cy="523875"/>
          </a:xfrm>
          <a:custGeom>
            <a:avLst/>
            <a:gdLst/>
            <a:ahLst/>
            <a:cxnLst/>
            <a:rect l="l" t="t" r="r" b="b"/>
            <a:pathLst>
              <a:path w="7381875" h="523875">
                <a:moveTo>
                  <a:pt x="38100" y="0"/>
                </a:moveTo>
                <a:lnTo>
                  <a:pt x="7343775" y="0"/>
                </a:lnTo>
                <a:cubicBezTo>
                  <a:pt x="7364817" y="0"/>
                  <a:pt x="7381875" y="17058"/>
                  <a:pt x="7381875" y="38100"/>
                </a:cubicBezTo>
                <a:lnTo>
                  <a:pt x="7381875" y="485775"/>
                </a:lnTo>
                <a:cubicBezTo>
                  <a:pt x="7381875" y="506817"/>
                  <a:pt x="7364817" y="523875"/>
                  <a:pt x="7343775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3E6B53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476750" y="1905000"/>
            <a:ext cx="1143000" cy="523875"/>
          </a:xfrm>
          <a:custGeom>
            <a:avLst/>
            <a:gdLst/>
            <a:ahLst/>
            <a:cxnLst/>
            <a:rect l="l" t="t" r="r" b="b"/>
            <a:pathLst>
              <a:path w="1143000" h="523875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485775"/>
                </a:lnTo>
                <a:cubicBezTo>
                  <a:pt x="1143000" y="506817"/>
                  <a:pt x="1125942" y="523875"/>
                  <a:pt x="1104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E6B5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53915" y="2029778"/>
            <a:ext cx="408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阶段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5820" y="223647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早鸟窗口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97868" y="2009299"/>
            <a:ext cx="18609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6/7 - 6/14 (剩 7 天) · 黄金期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99772" y="2196941"/>
            <a:ext cx="23147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机票早鸟 9 折 ¥3,679/人 · 酒店 4 钻房源 100%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99772" y="2349341"/>
            <a:ext cx="16092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E6B53"/>
                </a:solidFill>
                <a:latin typeface="Segoe UI"/>
                <a:ea typeface="Microsoft YaHei"/>
                <a:cs typeface="Segoe UI"/>
              </a:rPr>
              <a:t>✓ 推荐此时下订 (双人省 ¥800)</a:t>
            </a:r>
          </a:p>
        </p:txBody>
      </p:sp>
      <p:sp>
        <p:nvSpPr>
          <p:cNvPr id="23" name="Freeform 23"/>
          <p:cNvSpPr/>
          <p:nvPr/>
        </p:nvSpPr>
        <p:spPr>
          <a:xfrm>
            <a:off x="4476750" y="2524125"/>
            <a:ext cx="7381875" cy="523875"/>
          </a:xfrm>
          <a:custGeom>
            <a:avLst/>
            <a:gdLst/>
            <a:ahLst/>
            <a:cxnLst/>
            <a:rect l="l" t="t" r="r" b="b"/>
            <a:pathLst>
              <a:path w="7381875" h="523875">
                <a:moveTo>
                  <a:pt x="38100" y="0"/>
                </a:moveTo>
                <a:lnTo>
                  <a:pt x="7343775" y="0"/>
                </a:lnTo>
                <a:cubicBezTo>
                  <a:pt x="7364817" y="0"/>
                  <a:pt x="7381875" y="17058"/>
                  <a:pt x="7381875" y="38100"/>
                </a:cubicBezTo>
                <a:lnTo>
                  <a:pt x="7381875" y="485775"/>
                </a:lnTo>
                <a:cubicBezTo>
                  <a:pt x="7381875" y="506817"/>
                  <a:pt x="7364817" y="523875"/>
                  <a:pt x="7343775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D4A017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4476750" y="2524125"/>
            <a:ext cx="1143000" cy="523875"/>
          </a:xfrm>
          <a:custGeom>
            <a:avLst/>
            <a:gdLst/>
            <a:ahLst/>
            <a:cxnLst/>
            <a:rect l="l" t="t" r="r" b="b"/>
            <a:pathLst>
              <a:path w="1143000" h="523875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485775"/>
                </a:lnTo>
                <a:cubicBezTo>
                  <a:pt x="1143000" y="506817"/>
                  <a:pt x="1125942" y="523875"/>
                  <a:pt x="1104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4A01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653915" y="2648902"/>
            <a:ext cx="4456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阶段 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55820" y="285559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中期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97868" y="2628424"/>
            <a:ext cx="19769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6/15 - 6/28 (剩 21 天) · 涨价期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99772" y="2816066"/>
            <a:ext cx="21222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机票恢复全价 ¥4,088/人 · 4 钻酒店剩 65%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99772" y="2968466"/>
            <a:ext cx="1256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⚠ 6/15 起机票 +¥400/人</a:t>
            </a:r>
          </a:p>
        </p:txBody>
      </p:sp>
      <p:sp>
        <p:nvSpPr>
          <p:cNvPr id="30" name="Freeform 30"/>
          <p:cNvSpPr/>
          <p:nvPr/>
        </p:nvSpPr>
        <p:spPr>
          <a:xfrm>
            <a:off x="4476750" y="3143250"/>
            <a:ext cx="7381875" cy="523875"/>
          </a:xfrm>
          <a:custGeom>
            <a:avLst/>
            <a:gdLst/>
            <a:ahLst/>
            <a:cxnLst/>
            <a:rect l="l" t="t" r="r" b="b"/>
            <a:pathLst>
              <a:path w="7381875" h="523875">
                <a:moveTo>
                  <a:pt x="38100" y="0"/>
                </a:moveTo>
                <a:lnTo>
                  <a:pt x="7343775" y="0"/>
                </a:lnTo>
                <a:cubicBezTo>
                  <a:pt x="7364817" y="0"/>
                  <a:pt x="7381875" y="17058"/>
                  <a:pt x="7381875" y="38100"/>
                </a:cubicBezTo>
                <a:lnTo>
                  <a:pt x="7381875" y="485775"/>
                </a:lnTo>
                <a:cubicBezTo>
                  <a:pt x="7381875" y="506817"/>
                  <a:pt x="7364817" y="523875"/>
                  <a:pt x="7343775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0392B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4476750" y="3143250"/>
            <a:ext cx="1143000" cy="523875"/>
          </a:xfrm>
          <a:custGeom>
            <a:avLst/>
            <a:gdLst/>
            <a:ahLst/>
            <a:cxnLst/>
            <a:rect l="l" t="t" r="r" b="b"/>
            <a:pathLst>
              <a:path w="1143000" h="523875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485775"/>
                </a:lnTo>
                <a:cubicBezTo>
                  <a:pt x="1143000" y="506817"/>
                  <a:pt x="1125942" y="523875"/>
                  <a:pt x="1104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653915" y="3268028"/>
            <a:ext cx="4456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阶段 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55820" y="34747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急订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97868" y="3247549"/>
            <a:ext cx="18950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6/29 - 7/3 (剩 5 天) · 高风险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99772" y="3435191"/>
            <a:ext cx="25017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机票 +¥800/人 · 4 钻酒店仅剩 30% · 5 钻基本售罄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99772" y="3587591"/>
            <a:ext cx="12627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⚠ 急订双人加价 ¥1,200+</a:t>
            </a:r>
          </a:p>
        </p:txBody>
      </p:sp>
      <p:sp>
        <p:nvSpPr>
          <p:cNvPr id="37" name="Freeform 37"/>
          <p:cNvSpPr/>
          <p:nvPr/>
        </p:nvSpPr>
        <p:spPr>
          <a:xfrm>
            <a:off x="4476750" y="3762375"/>
            <a:ext cx="7381875" cy="523875"/>
          </a:xfrm>
          <a:custGeom>
            <a:avLst/>
            <a:gdLst/>
            <a:ahLst/>
            <a:cxnLst/>
            <a:rect l="l" t="t" r="r" b="b"/>
            <a:pathLst>
              <a:path w="7381875" h="523875">
                <a:moveTo>
                  <a:pt x="38100" y="0"/>
                </a:moveTo>
                <a:lnTo>
                  <a:pt x="7343775" y="0"/>
                </a:lnTo>
                <a:cubicBezTo>
                  <a:pt x="7364817" y="0"/>
                  <a:pt x="7381875" y="17058"/>
                  <a:pt x="7381875" y="38100"/>
                </a:cubicBezTo>
                <a:lnTo>
                  <a:pt x="7381875" y="485775"/>
                </a:lnTo>
                <a:cubicBezTo>
                  <a:pt x="7381875" y="506817"/>
                  <a:pt x="7364817" y="523875"/>
                  <a:pt x="7343775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A1A1A"/>
            </a:solidFill>
          </a:ln>
        </p:spPr>
      </p:sp>
      <p:sp>
        <p:nvSpPr>
          <p:cNvPr id="38" name="Freeform 38"/>
          <p:cNvSpPr/>
          <p:nvPr/>
        </p:nvSpPr>
        <p:spPr>
          <a:xfrm>
            <a:off x="4476750" y="3762375"/>
            <a:ext cx="1143000" cy="523875"/>
          </a:xfrm>
          <a:custGeom>
            <a:avLst/>
            <a:gdLst/>
            <a:ahLst/>
            <a:cxnLst/>
            <a:rect l="l" t="t" r="r" b="b"/>
            <a:pathLst>
              <a:path w="1143000" h="523875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485775"/>
                </a:lnTo>
                <a:cubicBezTo>
                  <a:pt x="1143000" y="506817"/>
                  <a:pt x="1125942" y="523875"/>
                  <a:pt x="1104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653915" y="3887152"/>
            <a:ext cx="4456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阶段 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55820" y="409384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临行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797868" y="3866674"/>
            <a:ext cx="15332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7/4 出发前 24h · 不建议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799772" y="4054316"/>
            <a:ext cx="19957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价格上浮 15-20% · 改签成本 ¥1,000+/人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99772" y="4206716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✗ 不建议此时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3855" y="3950018"/>
            <a:ext cx="25199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6 个必做事项 (阶段 1 内完成)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70522" y="4197191"/>
            <a:ext cx="15611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距出发 27 天 · 黄金期只剩 7 天</a:t>
            </a:r>
          </a:p>
        </p:txBody>
      </p:sp>
      <p:sp>
        <p:nvSpPr>
          <p:cNvPr id="46" name="Freeform 46"/>
          <p:cNvSpPr/>
          <p:nvPr/>
        </p:nvSpPr>
        <p:spPr>
          <a:xfrm>
            <a:off x="381000" y="4429125"/>
            <a:ext cx="11477625" cy="2190750"/>
          </a:xfrm>
          <a:custGeom>
            <a:avLst/>
            <a:gdLst/>
            <a:ahLst/>
            <a:cxnLst/>
            <a:rect l="l" t="t" r="r" b="b"/>
            <a:pathLst>
              <a:path w="11477625" h="2190750">
                <a:moveTo>
                  <a:pt x="57150" y="0"/>
                </a:moveTo>
                <a:lnTo>
                  <a:pt x="11420475" y="0"/>
                </a:lnTo>
                <a:cubicBezTo>
                  <a:pt x="11452038" y="0"/>
                  <a:pt x="11477625" y="25587"/>
                  <a:pt x="11477625" y="57150"/>
                </a:cubicBezTo>
                <a:lnTo>
                  <a:pt x="11477625" y="2133600"/>
                </a:lnTo>
                <a:cubicBezTo>
                  <a:pt x="11477625" y="2165163"/>
                  <a:pt x="11452038" y="2190750"/>
                  <a:pt x="11420475" y="2190750"/>
                </a:cubicBezTo>
                <a:lnTo>
                  <a:pt x="57150" y="2190750"/>
                </a:lnTo>
                <a:cubicBezTo>
                  <a:pt x="25587" y="2190750"/>
                  <a:pt x="0" y="2165163"/>
                  <a:pt x="0" y="2133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F4E79"/>
            </a:solidFill>
          </a:ln>
        </p:spPr>
      </p:sp>
      <p:grpSp>
        <p:nvGrpSpPr>
          <p:cNvPr id="52" name="Group 52"/>
          <p:cNvGrpSpPr/>
          <p:nvPr/>
        </p:nvGrpSpPr>
        <p:grpSpPr>
          <a:xfrm>
            <a:off x="559118" y="4619625"/>
            <a:ext cx="939429" cy="1023937"/>
            <a:chOff x="559118" y="4619625"/>
            <a:chExt cx="939429" cy="1023937"/>
          </a:xfrm>
        </p:grpSpPr>
        <p:sp>
          <p:nvSpPr>
            <p:cNvPr id="47" name="Freeform 47"/>
            <p:cNvSpPr/>
            <p:nvPr/>
          </p:nvSpPr>
          <p:spPr>
            <a:xfrm>
              <a:off x="571500" y="46196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3E6B5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59118" y="4800124"/>
              <a:ext cx="939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1. 下订 6/14 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1022" y="5006816"/>
              <a:ext cx="670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套餐 ¥17,896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1022" y="5178266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含早 / 不拼团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1975" y="5491162"/>
              <a:ext cx="62812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✓ 7/4 早鸟价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368868" y="4619625"/>
            <a:ext cx="1034991" cy="1023937"/>
            <a:chOff x="2368868" y="4619625"/>
            <a:chExt cx="1034991" cy="1023937"/>
          </a:xfrm>
        </p:grpSpPr>
        <p:sp>
          <p:nvSpPr>
            <p:cNvPr id="53" name="Freeform 53"/>
            <p:cNvSpPr/>
            <p:nvPr/>
          </p:nvSpPr>
          <p:spPr>
            <a:xfrm>
              <a:off x="2381250" y="46196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3E6B5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368868" y="4800124"/>
              <a:ext cx="1034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2. 机票交叉验证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370772" y="5006816"/>
              <a:ext cx="6590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7/4 SHA→SUB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370772" y="5178266"/>
              <a:ext cx="7525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CX365 + CX629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371725" y="5491162"/>
              <a:ext cx="5283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✓ 含在套餐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178618" y="4619625"/>
            <a:ext cx="761957" cy="1023937"/>
            <a:chOff x="4178618" y="4619625"/>
            <a:chExt cx="761957" cy="1023937"/>
          </a:xfrm>
        </p:grpSpPr>
        <p:sp>
          <p:nvSpPr>
            <p:cNvPr id="59" name="Freeform 59"/>
            <p:cNvSpPr/>
            <p:nvPr/>
          </p:nvSpPr>
          <p:spPr>
            <a:xfrm>
              <a:off x="4191000" y="46196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3E6B5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178618" y="4800124"/>
              <a:ext cx="761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3. 签证确认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180522" y="5006816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免签 / 落地签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180522" y="5178266"/>
              <a:ext cx="4995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¥238 / 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181475" y="5491162"/>
              <a:ext cx="5283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✓ 已含清单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988368" y="4619625"/>
            <a:ext cx="1055469" cy="1023937"/>
            <a:chOff x="5988368" y="4619625"/>
            <a:chExt cx="1055469" cy="1023937"/>
          </a:xfrm>
        </p:grpSpPr>
        <p:sp>
          <p:nvSpPr>
            <p:cNvPr id="65" name="Freeform 65"/>
            <p:cNvSpPr/>
            <p:nvPr/>
          </p:nvSpPr>
          <p:spPr>
            <a:xfrm>
              <a:off x="6000750" y="46196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3E6B5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88368" y="4800124"/>
              <a:ext cx="1055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4. 旅意险 + 航延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90272" y="500681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平安境外险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90272" y="5178266"/>
              <a:ext cx="7470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¥80 + ¥60 / 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991225" y="5491162"/>
              <a:ext cx="5808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✓ 双人 ¥280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798118" y="4619625"/>
            <a:ext cx="1034991" cy="1023937"/>
            <a:chOff x="7798118" y="4619625"/>
            <a:chExt cx="1034991" cy="1023937"/>
          </a:xfrm>
        </p:grpSpPr>
        <p:sp>
          <p:nvSpPr>
            <p:cNvPr id="71" name="Freeform 71"/>
            <p:cNvSpPr/>
            <p:nvPr/>
          </p:nvSpPr>
          <p:spPr>
            <a:xfrm>
              <a:off x="7810500" y="46196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3E6B53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798118" y="4800124"/>
              <a:ext cx="1034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 兑换 IDR 现金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00022" y="5006816"/>
              <a:ext cx="7580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USD 1 = 6.7878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00022" y="5178266"/>
              <a:ext cx="5930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¥1,500 / 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00975" y="5491162"/>
              <a:ext cx="69638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✓ 双人 ¥3,000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607868" y="4619625"/>
            <a:ext cx="761957" cy="1023937"/>
            <a:chOff x="9607868" y="4619625"/>
            <a:chExt cx="761957" cy="1023937"/>
          </a:xfrm>
        </p:grpSpPr>
        <p:sp>
          <p:nvSpPr>
            <p:cNvPr id="77" name="Freeform 77"/>
            <p:cNvSpPr/>
            <p:nvPr/>
          </p:nvSpPr>
          <p:spPr>
            <a:xfrm>
              <a:off x="9620250" y="46196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9050" y="0"/>
                  </a:move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14300"/>
                  </a:lnTo>
                  <a:cubicBezTo>
                    <a:pt x="133350" y="124821"/>
                    <a:pt x="124821" y="133350"/>
                    <a:pt x="114300" y="133350"/>
                  </a:cubicBezTo>
                  <a:lnTo>
                    <a:pt x="19050" y="133350"/>
                  </a:lnTo>
                  <a:cubicBezTo>
                    <a:pt x="8529" y="133350"/>
                    <a:pt x="0" y="124821"/>
                    <a:pt x="0" y="1143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3E6B5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607868" y="4800124"/>
              <a:ext cx="761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6. 装备清单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09772" y="5006816"/>
              <a:ext cx="5875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防蚊 + 长袖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609772" y="5178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+ 雨具 + 防晒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610725" y="5491162"/>
              <a:ext cx="52311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✓ P20 已列</a:t>
              </a: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561022" y="6340316"/>
            <a:ext cx="29418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 携程主接口 × wendao 实时汇率 + 历 early-bird 数据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61022" y="6492716"/>
            <a:ext cx="17016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⏰ 建议: 6/14 前下订 锁住 早鸟价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9120" y="483870"/>
            <a:ext cx="441270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P25 · 客群画像 × 出发日分流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4360" y="899160"/>
            <a:ext cx="44230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3 类客户 × 3 个出发日 · 携程主接口 4 个真实在售产品 匹配度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7218" y="1132999"/>
            <a:ext cx="16970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🎯 旅客自测: 你属于哪一类?</a:t>
            </a:r>
          </a:p>
        </p:txBody>
      </p:sp>
      <p:sp>
        <p:nvSpPr>
          <p:cNvPr id="8" name="Freeform 8"/>
          <p:cNvSpPr/>
          <p:nvPr/>
        </p:nvSpPr>
        <p:spPr>
          <a:xfrm>
            <a:off x="381000" y="1524000"/>
            <a:ext cx="3762375" cy="4191000"/>
          </a:xfrm>
          <a:custGeom>
            <a:avLst/>
            <a:gdLst/>
            <a:ahLst/>
            <a:cxnLst/>
            <a:rect l="l" t="t" r="r" b="b"/>
            <a:pathLst>
              <a:path w="3762375" h="4191000">
                <a:moveTo>
                  <a:pt x="76200" y="0"/>
                </a:moveTo>
                <a:lnTo>
                  <a:pt x="3686175" y="0"/>
                </a:lnTo>
                <a:cubicBezTo>
                  <a:pt x="3728259" y="0"/>
                  <a:pt x="3762375" y="34116"/>
                  <a:pt x="3762375" y="76200"/>
                </a:cubicBezTo>
                <a:lnTo>
                  <a:pt x="3762375" y="4114800"/>
                </a:lnTo>
                <a:cubicBezTo>
                  <a:pt x="3762375" y="4156884"/>
                  <a:pt x="3728259" y="4191000"/>
                  <a:pt x="3686175" y="4191000"/>
                </a:cubicBezTo>
                <a:lnTo>
                  <a:pt x="76200" y="4191000"/>
                </a:lnTo>
                <a:cubicBezTo>
                  <a:pt x="34116" y="4191000"/>
                  <a:pt x="0" y="4156884"/>
                  <a:pt x="0" y="411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3E6B53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381000" y="1524000"/>
            <a:ext cx="3762375" cy="571500"/>
          </a:xfrm>
          <a:custGeom>
            <a:avLst/>
            <a:gdLst/>
            <a:ahLst/>
            <a:cxnLst/>
            <a:rect l="l" t="t" r="r" b="b"/>
            <a:pathLst>
              <a:path w="3762375" h="571500">
                <a:moveTo>
                  <a:pt x="76200" y="0"/>
                </a:moveTo>
                <a:lnTo>
                  <a:pt x="3686175" y="0"/>
                </a:lnTo>
                <a:cubicBezTo>
                  <a:pt x="3728259" y="0"/>
                  <a:pt x="3762375" y="34116"/>
                  <a:pt x="3762375" y="76200"/>
                </a:cubicBezTo>
                <a:lnTo>
                  <a:pt x="3762375" y="495300"/>
                </a:lnTo>
                <a:cubicBezTo>
                  <a:pt x="3762375" y="537384"/>
                  <a:pt x="3728259" y="571500"/>
                  <a:pt x="3686175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E6B5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50545" y="1631632"/>
            <a:ext cx="28720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 · 朋友 / 闺蜜出游 (主推)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118" y="1914049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90000"/>
                  </a:srgbClr>
                </a:solidFill>
                <a:latin typeface="Segoe UI"/>
                <a:ea typeface="Microsoft YaHei"/>
                <a:cs typeface="Segoe UI"/>
              </a:rPr>
              <a:t>典型用户 · 与你匹配度 95%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8165" y="2267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客户画像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1022" y="24826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2 位 25-35 岁女性 (或 1 对情侣)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1022" y="2654141"/>
            <a:ext cx="16711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朋友圈摄影 + 火山探险双重需求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1022" y="2825591"/>
            <a:ext cx="13631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预算 ¥8,000-10,000 / 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022" y="2997041"/>
            <a:ext cx="1522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体力: 中等 (可徒步 4-6 km)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165" y="32775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最佳出发日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2450" y="3419475"/>
            <a:ext cx="29049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E6B53"/>
                </a:solidFill>
                <a:latin typeface="Segoe UI"/>
                <a:ea typeface="Microsoft YaHei"/>
                <a:cs typeface="Segoe UI"/>
              </a:rPr>
              <a:t>7/4 (周六) · 旱季 + 库存 充足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1022" y="3682841"/>
            <a:ext cx="12586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→ 配 p69762187 (本产品)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1022" y="3854291"/>
            <a:ext cx="15666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→ 双人 ¥17,896 / 含早 / 不拼团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8165" y="41348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核心痛点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1022" y="4349591"/>
            <a:ext cx="12476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⚠ 凌晨 3 点起床 + 火山灰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1022" y="4521041"/>
            <a:ext cx="1121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⚠ 库塔酒店 4 钻非海景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1022" y="4692491"/>
            <a:ext cx="10110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⚠ 巴厘岛段 2 天略赶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4953000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533400"/>
                </a:lnTo>
                <a:cubicBezTo>
                  <a:pt x="3381375" y="554442"/>
                  <a:pt x="3364317" y="571500"/>
                  <a:pt x="3343275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E6B53">
              <a:alpha val="15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11518" y="5076349"/>
            <a:ext cx="15947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E6B53"/>
                </a:solidFill>
                <a:latin typeface="Segoe UI"/>
                <a:ea typeface="Microsoft YaHei"/>
                <a:cs typeface="Segoe UI"/>
              </a:rPr>
              <a:t>✅ 推荐指数: ⭐⭐⭐⭐⭐ (5/5)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3422" y="526399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朋友出游 (tourType=1) 真实样本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3422" y="5416391"/>
            <a:ext cx="13301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2026-03-28 出团 · 评 5.0</a:t>
            </a:r>
          </a:p>
        </p:txBody>
      </p:sp>
      <p:sp>
        <p:nvSpPr>
          <p:cNvPr id="29" name="Freeform 29"/>
          <p:cNvSpPr/>
          <p:nvPr/>
        </p:nvSpPr>
        <p:spPr>
          <a:xfrm>
            <a:off x="4286250" y="1524000"/>
            <a:ext cx="3762375" cy="4191000"/>
          </a:xfrm>
          <a:custGeom>
            <a:avLst/>
            <a:gdLst/>
            <a:ahLst/>
            <a:cxnLst/>
            <a:rect l="l" t="t" r="r" b="b"/>
            <a:pathLst>
              <a:path w="3762375" h="4191000">
                <a:moveTo>
                  <a:pt x="76200" y="0"/>
                </a:moveTo>
                <a:lnTo>
                  <a:pt x="3686175" y="0"/>
                </a:lnTo>
                <a:cubicBezTo>
                  <a:pt x="3728259" y="0"/>
                  <a:pt x="3762375" y="34116"/>
                  <a:pt x="3762375" y="76200"/>
                </a:cubicBezTo>
                <a:lnTo>
                  <a:pt x="3762375" y="4114800"/>
                </a:lnTo>
                <a:cubicBezTo>
                  <a:pt x="3762375" y="4156884"/>
                  <a:pt x="3728259" y="4191000"/>
                  <a:pt x="3686175" y="4191000"/>
                </a:cubicBezTo>
                <a:lnTo>
                  <a:pt x="76200" y="4191000"/>
                </a:lnTo>
                <a:cubicBezTo>
                  <a:pt x="34116" y="4191000"/>
                  <a:pt x="0" y="4156884"/>
                  <a:pt x="0" y="411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D4A017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4286250" y="1524000"/>
            <a:ext cx="3762375" cy="571500"/>
          </a:xfrm>
          <a:custGeom>
            <a:avLst/>
            <a:gdLst/>
            <a:ahLst/>
            <a:cxnLst/>
            <a:rect l="l" t="t" r="r" b="b"/>
            <a:pathLst>
              <a:path w="3762375" h="571500">
                <a:moveTo>
                  <a:pt x="76200" y="0"/>
                </a:moveTo>
                <a:lnTo>
                  <a:pt x="3686175" y="0"/>
                </a:lnTo>
                <a:cubicBezTo>
                  <a:pt x="3728259" y="0"/>
                  <a:pt x="3762375" y="34116"/>
                  <a:pt x="3762375" y="76200"/>
                </a:cubicBezTo>
                <a:lnTo>
                  <a:pt x="3762375" y="495300"/>
                </a:lnTo>
                <a:cubicBezTo>
                  <a:pt x="3762375" y="537384"/>
                  <a:pt x="3728259" y="571500"/>
                  <a:pt x="3686175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4A01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455795" y="1631632"/>
            <a:ext cx="15898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 · 家庭亲子游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64368" y="1914049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90000"/>
                  </a:srgbClr>
                </a:solidFill>
                <a:latin typeface="Segoe UI"/>
                <a:ea typeface="Microsoft YaHei"/>
                <a:cs typeface="Segoe UI"/>
              </a:rPr>
              <a:t>2 大 1 小 · 与你匹配度 40%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63415" y="2267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客户画像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66272" y="2482691"/>
            <a:ext cx="12916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2 大 1 小 (儿童 6-12 岁)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66272" y="2654141"/>
            <a:ext cx="12476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注重安全 + 海边 + 文化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66272" y="282559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预算 ¥12,000+ / 人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66272" y="2997041"/>
            <a:ext cx="13521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体力: 低 (避免凌晨行程)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63415" y="32775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最佳出发日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59605" y="3435668"/>
            <a:ext cx="1962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7/6 (周一) · 暑期高峰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466272" y="3682841"/>
            <a:ext cx="13686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→ 配 p68767518 (亲子主题)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466272" y="3854291"/>
            <a:ext cx="1231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→ 价格需咨询 (3 人 1 间)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63415" y="41348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核心痛点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66272" y="4349591"/>
            <a:ext cx="13576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⚠ 布罗莫凌晨段 不适合儿童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466272" y="4521041"/>
            <a:ext cx="12806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⚠ 伊真蓝火 浓烟 儿童不宜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466272" y="4692491"/>
            <a:ext cx="1390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⚠ 火山路线 改为 巴厘岛海岛</a:t>
            </a:r>
          </a:p>
        </p:txBody>
      </p:sp>
      <p:sp>
        <p:nvSpPr>
          <p:cNvPr id="46" name="Freeform 46"/>
          <p:cNvSpPr/>
          <p:nvPr/>
        </p:nvSpPr>
        <p:spPr>
          <a:xfrm>
            <a:off x="4476750" y="4953000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533400"/>
                </a:lnTo>
                <a:cubicBezTo>
                  <a:pt x="3381375" y="554442"/>
                  <a:pt x="3364317" y="571500"/>
                  <a:pt x="3343275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4A017">
              <a:alpha val="15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616768" y="5076349"/>
            <a:ext cx="14445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⚠ 推荐指数: ⭐⭐⭐ (3/5)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618672" y="5263991"/>
            <a:ext cx="15116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本产品不推荐家庭 (凌晨 3 点)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618672" y="541639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建议改 p68767518</a:t>
            </a:r>
          </a:p>
        </p:txBody>
      </p:sp>
      <p:sp>
        <p:nvSpPr>
          <p:cNvPr id="50" name="Freeform 50"/>
          <p:cNvSpPr/>
          <p:nvPr/>
        </p:nvSpPr>
        <p:spPr>
          <a:xfrm>
            <a:off x="8191500" y="1524000"/>
            <a:ext cx="3762375" cy="4191000"/>
          </a:xfrm>
          <a:custGeom>
            <a:avLst/>
            <a:gdLst/>
            <a:ahLst/>
            <a:cxnLst/>
            <a:rect l="l" t="t" r="r" b="b"/>
            <a:pathLst>
              <a:path w="3762375" h="4191000">
                <a:moveTo>
                  <a:pt x="76200" y="0"/>
                </a:moveTo>
                <a:lnTo>
                  <a:pt x="3686175" y="0"/>
                </a:lnTo>
                <a:cubicBezTo>
                  <a:pt x="3728259" y="0"/>
                  <a:pt x="3762375" y="34116"/>
                  <a:pt x="3762375" y="76200"/>
                </a:cubicBezTo>
                <a:lnTo>
                  <a:pt x="3762375" y="4114800"/>
                </a:lnTo>
                <a:cubicBezTo>
                  <a:pt x="3762375" y="4156884"/>
                  <a:pt x="3728259" y="4191000"/>
                  <a:pt x="3686175" y="4191000"/>
                </a:cubicBezTo>
                <a:lnTo>
                  <a:pt x="76200" y="4191000"/>
                </a:lnTo>
                <a:cubicBezTo>
                  <a:pt x="34116" y="4191000"/>
                  <a:pt x="0" y="4156884"/>
                  <a:pt x="0" y="411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C0392B"/>
            </a:solidFill>
          </a:ln>
        </p:spPr>
      </p:sp>
      <p:sp>
        <p:nvSpPr>
          <p:cNvPr id="51" name="Freeform 51"/>
          <p:cNvSpPr/>
          <p:nvPr/>
        </p:nvSpPr>
        <p:spPr>
          <a:xfrm>
            <a:off x="8191500" y="1524000"/>
            <a:ext cx="3762375" cy="571500"/>
          </a:xfrm>
          <a:custGeom>
            <a:avLst/>
            <a:gdLst/>
            <a:ahLst/>
            <a:cxnLst/>
            <a:rect l="l" t="t" r="r" b="b"/>
            <a:pathLst>
              <a:path w="3762375" h="571500">
                <a:moveTo>
                  <a:pt x="76200" y="0"/>
                </a:moveTo>
                <a:lnTo>
                  <a:pt x="3686175" y="0"/>
                </a:lnTo>
                <a:cubicBezTo>
                  <a:pt x="3728259" y="0"/>
                  <a:pt x="3762375" y="34116"/>
                  <a:pt x="3762375" y="76200"/>
                </a:cubicBezTo>
                <a:lnTo>
                  <a:pt x="3762375" y="495300"/>
                </a:lnTo>
                <a:cubicBezTo>
                  <a:pt x="3762375" y="537384"/>
                  <a:pt x="3728259" y="571500"/>
                  <a:pt x="3686175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0392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361045" y="1631632"/>
            <a:ext cx="15898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C · 情侣蜜月游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69618" y="1914049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90000"/>
                  </a:srgbClr>
                </a:solidFill>
                <a:latin typeface="Segoe UI"/>
                <a:ea typeface="Microsoft YaHei"/>
                <a:cs typeface="Segoe UI"/>
              </a:rPr>
              <a:t>2 大人 · 与你匹配度 80%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368665" y="2267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客户画像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371522" y="2482691"/>
            <a:ext cx="11100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1 对情侣 (25-40 岁)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371522" y="2654141"/>
            <a:ext cx="12476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注重私密 + 体验 + 摄影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371522" y="2825591"/>
            <a:ext cx="13301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预算 ¥6,000-8,000 / 人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371522" y="29970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• 体力: 高 (可深度游)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368665" y="32775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最佳出发日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364855" y="3435668"/>
            <a:ext cx="14236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8/31 (雨季淡季)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371522" y="3682841"/>
            <a:ext cx="15831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→ 配 p50844414 (情侣评分 5.0)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371522" y="3854291"/>
            <a:ext cx="14456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→ 双人 ¥7,902 / 人均 ¥3,951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368665" y="41348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核心痛点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371522" y="4349591"/>
            <a:ext cx="13851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⚠ 雨季 (8月) 影响 火山拍摄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371522" y="4521041"/>
            <a:ext cx="10275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⚠ 行程紧凑 浪漫感弱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71522" y="4692491"/>
            <a:ext cx="9505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⚠ 酒店 4 钻 非 5 钻</a:t>
            </a:r>
          </a:p>
        </p:txBody>
      </p:sp>
      <p:sp>
        <p:nvSpPr>
          <p:cNvPr id="67" name="Freeform 67"/>
          <p:cNvSpPr/>
          <p:nvPr/>
        </p:nvSpPr>
        <p:spPr>
          <a:xfrm>
            <a:off x="8382000" y="4953000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533400"/>
                </a:lnTo>
                <a:cubicBezTo>
                  <a:pt x="3381375" y="554442"/>
                  <a:pt x="3364317" y="571500"/>
                  <a:pt x="3343275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0392B">
              <a:alpha val="15000"/>
            </a:srgbClr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522018" y="5076349"/>
            <a:ext cx="15196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0392B"/>
                </a:solidFill>
                <a:latin typeface="Segoe UI"/>
                <a:ea typeface="Microsoft YaHei"/>
                <a:cs typeface="Segoe UI"/>
              </a:rPr>
              <a:t>✓ 推荐指数: ⭐⭐⭐⭐ (4/5)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523922" y="526399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如能接受 8 月雨季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523922" y="5416391"/>
            <a:ext cx="10935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价格省 ¥4,947 / 双人</a:t>
            </a:r>
          </a:p>
        </p:txBody>
      </p:sp>
      <p:sp>
        <p:nvSpPr>
          <p:cNvPr id="71" name="Freeform 71"/>
          <p:cNvSpPr/>
          <p:nvPr/>
        </p:nvSpPr>
        <p:spPr>
          <a:xfrm>
            <a:off x="381000" y="5886450"/>
            <a:ext cx="11572875" cy="781050"/>
          </a:xfrm>
          <a:custGeom>
            <a:avLst/>
            <a:gdLst/>
            <a:ahLst/>
            <a:cxnLst/>
            <a:rect l="l" t="t" r="r" b="b"/>
            <a:pathLst>
              <a:path w="11572875" h="781050">
                <a:moveTo>
                  <a:pt x="57150" y="0"/>
                </a:moveTo>
                <a:lnTo>
                  <a:pt x="11515725" y="0"/>
                </a:lnTo>
                <a:cubicBezTo>
                  <a:pt x="11547288" y="0"/>
                  <a:pt x="11572875" y="25587"/>
                  <a:pt x="11572875" y="57150"/>
                </a:cubicBezTo>
                <a:lnTo>
                  <a:pt x="11572875" y="723900"/>
                </a:lnTo>
                <a:cubicBezTo>
                  <a:pt x="11572875" y="755463"/>
                  <a:pt x="11547288" y="781050"/>
                  <a:pt x="11515725" y="781050"/>
                </a:cubicBezTo>
                <a:lnTo>
                  <a:pt x="57150" y="781050"/>
                </a:lnTo>
                <a:cubicBezTo>
                  <a:pt x="25587" y="781050"/>
                  <a:pt x="0" y="755463"/>
                  <a:pt x="0" y="723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556260" y="6042660"/>
            <a:ext cx="42142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📊 结论 · 你(双人 7/4 出发 朋友出游) = A 客群 95% 匹配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59118" y="6295549"/>
            <a:ext cx="3619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95000"/>
                  </a:srgbClr>
                </a:solidFill>
                <a:latin typeface="Segoe UI"/>
                <a:ea typeface="Microsoft YaHei"/>
                <a:cs typeface="Segoe UI"/>
              </a:rPr>
              <a:t>→ 7/4 下订 p69762187 = 最优解 (库存 / 气候 / 客群三重匹配)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60070" y="6494145"/>
            <a:ext cx="496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Segoe UI"/>
                <a:ea typeface="Microsoft YaHei"/>
                <a:cs typeface="Segoe UI"/>
              </a:rPr>
              <a:t>数据: 携程主接口 4 真实在售产品 (p69762187/68767518/50844414/24528521) × 3 客群交叉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2000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4 条线路 · 官方图片 · e2e 真抓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79508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A 双岛出海 / B 别墅秘境 / C 阿雅娜 / D 追海豚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81000" y="1714500"/>
            <a:ext cx="2762250" cy="3810000"/>
            <a:chOff x="381000" y="1714500"/>
            <a:chExt cx="2762250" cy="3810000"/>
          </a:xfrm>
        </p:grpSpPr>
        <p:sp>
          <p:nvSpPr>
            <p:cNvPr id="6" name="Rectangle 6"/>
            <p:cNvSpPr/>
            <p:nvPr/>
          </p:nvSpPr>
          <p:spPr>
            <a:xfrm>
              <a:off x="381000" y="1714500"/>
              <a:ext cx="2762250" cy="381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F4E7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714500"/>
              <a:ext cx="2762250" cy="3429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1015" y="1829752"/>
              <a:ext cx="15997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 · 5 钻纯玩 · 双岛出海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" y="2057400"/>
              <a:ext cx="1714500" cy="22860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502920" y="4455795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代表景点: 蓝梦岛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2920" y="4627245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7/4 双人 ¥15,086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1968" y="4847749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4E79"/>
                  </a:solidFill>
                  <a:latin typeface="Segoe UI"/>
                  <a:ea typeface="Microsoft YaHei"/>
                  <a:cs typeface="Segoe UI"/>
                </a:rPr>
                <a:t>★ 班期全 + 性价比高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3872" y="5073491"/>
              <a:ext cx="8570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推荐指数: ★★★★★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3872" y="5263991"/>
              <a:ext cx="7085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库存: 50 充足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286125" y="1714500"/>
            <a:ext cx="2762250" cy="3810000"/>
            <a:chOff x="3286125" y="1714500"/>
            <a:chExt cx="2762250" cy="3810000"/>
          </a:xfrm>
        </p:grpSpPr>
        <p:sp>
          <p:nvSpPr>
            <p:cNvPr id="16" name="Rectangle 16"/>
            <p:cNvSpPr/>
            <p:nvPr/>
          </p:nvSpPr>
          <p:spPr>
            <a:xfrm>
              <a:off x="3286125" y="1714500"/>
              <a:ext cx="2762250" cy="381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E6B5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286125" y="1714500"/>
              <a:ext cx="2762250" cy="342900"/>
            </a:xfrm>
            <a:prstGeom prst="rect">
              <a:avLst/>
            </a:prstGeom>
            <a:solidFill>
              <a:srgbClr val="3E6B5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06140" y="1829752"/>
              <a:ext cx="11366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 · 4 晚海边别墅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00" y="2057400"/>
              <a:ext cx="1714500" cy="22860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3408045" y="4455795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代表景点: 阿勇河漂流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08045" y="4627245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7/4 双人 ¥18,368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07092" y="4847749"/>
              <a:ext cx="14308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+ ¥3,282 4 晚泳池别墅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08998" y="5073491"/>
              <a:ext cx="796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推荐指数: ★★★★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08998" y="5263991"/>
              <a:ext cx="9175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别墅型 / 私密泳池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91250" y="1714500"/>
            <a:ext cx="2762250" cy="3810000"/>
            <a:chOff x="6191250" y="1714500"/>
            <a:chExt cx="2762250" cy="3810000"/>
          </a:xfrm>
        </p:grpSpPr>
        <p:sp>
          <p:nvSpPr>
            <p:cNvPr id="26" name="Rectangle 26"/>
            <p:cNvSpPr/>
            <p:nvPr/>
          </p:nvSpPr>
          <p:spPr>
            <a:xfrm>
              <a:off x="6191250" y="1714500"/>
              <a:ext cx="2762250" cy="381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392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91250" y="1714500"/>
              <a:ext cx="2762250" cy="3429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11265" y="1829752"/>
              <a:ext cx="9896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 · 2 晚阿雅娜</a:t>
              </a:r>
            </a:p>
          </p:txBody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1250" y="2242245"/>
              <a:ext cx="2762250" cy="1916311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6313170" y="4455795"/>
              <a:ext cx="1445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代表酒店: 金巴兰叶子豪华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3170" y="4627245"/>
              <a:ext cx="994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7/4 双人 ¥23,586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12218" y="4847749"/>
              <a:ext cx="1335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+ ¥8,500 阿雅娜 5 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14122" y="5073491"/>
              <a:ext cx="73604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推荐指数: ★★★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14122" y="526399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蜜月 / 品牌党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096375" y="1714500"/>
            <a:ext cx="2762250" cy="3810000"/>
            <a:chOff x="9096375" y="1714500"/>
            <a:chExt cx="2762250" cy="3810000"/>
          </a:xfrm>
        </p:grpSpPr>
        <p:sp>
          <p:nvSpPr>
            <p:cNvPr id="36" name="Rectangle 36"/>
            <p:cNvSpPr/>
            <p:nvPr/>
          </p:nvSpPr>
          <p:spPr>
            <a:xfrm>
              <a:off x="9096375" y="1714500"/>
              <a:ext cx="2762250" cy="381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4A017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96375" y="1714500"/>
              <a:ext cx="2762250" cy="3429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16390" y="1829752"/>
              <a:ext cx="11807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 · 联运 A 线同款</a:t>
              </a:r>
            </a:p>
          </p:txBody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20250" y="2057400"/>
              <a:ext cx="1714500" cy="2286000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9218295" y="4455795"/>
              <a:ext cx="13250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代表景点: 罗威纳追海豚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18295" y="4627245"/>
              <a:ext cx="7189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7/4 — 不开放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17342" y="4847749"/>
              <a:ext cx="1178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392B"/>
                  </a:solidFill>
                  <a:latin typeface="Segoe UI"/>
                  <a:ea typeface="Microsoft YaHei"/>
                  <a:cs typeface="Segoe UI"/>
                </a:rPr>
                <a:t>7/8 双人 ¥11,432 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19248" y="5073491"/>
              <a:ext cx="12201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推荐指数: ★★★ (限班期)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19248" y="5263991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非联运城市出发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59118" y="5990749"/>
            <a:ext cx="42632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★ 7/8 全场最低 ¥11,432/双人 (D 限班期) · 常规推荐 A 7/4-7/10 ¥15,086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1022" y="6197441"/>
            <a:ext cx="37724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 携程 e2e 重抓 4 subProductId + 13 张官方景点/酒店图 · 2026-06-07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P26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3E6B5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22039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真实酒店 · e2e 抓 imageHotelList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金巴兰叶子豪华别墅 · 5 晚连住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81000" y="1714500"/>
            <a:ext cx="3810000" cy="3619500"/>
            <a:chOff x="381000" y="1714500"/>
            <a:chExt cx="3810000" cy="3619500"/>
          </a:xfrm>
        </p:grpSpPr>
        <p:sp>
          <p:nvSpPr>
            <p:cNvPr id="6" name="Rectangle 6"/>
            <p:cNvSpPr/>
            <p:nvPr/>
          </p:nvSpPr>
          <p:spPr>
            <a:xfrm>
              <a:off x="381000" y="1714500"/>
              <a:ext cx="3810000" cy="3619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1821656"/>
              <a:ext cx="3810000" cy="2643188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501968" y="4695349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酒店外部 · 5 钻泳池别墅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3872" y="4921091"/>
              <a:ext cx="12421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HotelId 3121004 · A/D 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3872" y="5092541"/>
              <a:ext cx="9615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100 平一房一别墅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286250" y="1714500"/>
            <a:ext cx="3810000" cy="3619500"/>
            <a:chOff x="4286250" y="1714500"/>
            <a:chExt cx="3810000" cy="3619500"/>
          </a:xfrm>
        </p:grpSpPr>
        <p:sp>
          <p:nvSpPr>
            <p:cNvPr id="12" name="Rectangle 12"/>
            <p:cNvSpPr/>
            <p:nvPr/>
          </p:nvSpPr>
          <p:spPr>
            <a:xfrm>
              <a:off x="4286250" y="1714500"/>
              <a:ext cx="3810000" cy="3619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6250" y="1869281"/>
              <a:ext cx="3810000" cy="2547938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407218" y="4695349"/>
              <a:ext cx="12943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房间内部 · 大床 2 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09122" y="4921091"/>
              <a:ext cx="9340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star=5 · 5 晚连住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09122" y="5092541"/>
              <a:ext cx="10550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携程点评 100% 好评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91500" y="1714500"/>
            <a:ext cx="3810000" cy="3619500"/>
            <a:chOff x="8191500" y="1714500"/>
            <a:chExt cx="3810000" cy="3619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1714500"/>
              <a:ext cx="3810000" cy="3619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C5A0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91500" y="1874044"/>
              <a:ext cx="3810000" cy="2538412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8312468" y="4695349"/>
              <a:ext cx="12738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公共区域 · 泳池花园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14372" y="4921091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C5C5C"/>
                  </a:solidFill>
                  <a:latin typeface="Segoe UI"/>
                  <a:ea typeface="Microsoft YaHei"/>
                  <a:cs typeface="Segoe UI"/>
                </a:rPr>
                <a:t>cityId 438 巴厘岛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14372" y="50925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E6B53"/>
                  </a:solidFill>
                  <a:latin typeface="Segoe UI"/>
                  <a:ea typeface="Microsoft YaHei"/>
                  <a:cs typeface="Segoe UI"/>
                </a:rPr>
                <a:t>● 一单一团 5 晚连住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59118" y="5704999"/>
            <a:ext cx="47118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★ A/D 线住这 · B 线 4 晚海边别墅 (未抓到图) · C 线 2 晚阿雅娜 3 家 (未抓到图)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9118" y="5990749"/>
            <a:ext cx="62590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C 线阿雅娜 3 家: 赛格拉 (100618092) / 度假村 (711373) / 林畔 (987799) — 需 B/C 单独 spa_capture 抓图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1022" y="6197441"/>
            <a:ext cx="27272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 imageHotelList e2e 抓 69852382 · 2026-06-07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P27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81000"/>
            <a:ext cx="57150" cy="76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48652"/>
            <a:ext cx="1860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真实行程 · 9 个景点 · e2e 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851535"/>
            <a:ext cx="502099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Georgia"/>
                <a:ea typeface="Microsoft YaHei"/>
                <a:cs typeface="Georgia"/>
              </a:rPr>
              <a:t>D1-D6 行程 9 个景点 · 官方图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381000" y="1714500"/>
            <a:ext cx="11430000" cy="4572000"/>
            <a:chOff x="381000" y="1714500"/>
            <a:chExt cx="114300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381000" y="1714500"/>
              <a:ext cx="3714750" cy="1524000"/>
              <a:chOff x="381000" y="1714500"/>
              <a:chExt cx="3714750" cy="1524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381000" y="1714500"/>
                <a:ext cx="3714750" cy="1524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pic>
            <p:nvPicPr>
              <p:cNvPr id="7" name="Image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1000" y="1714500"/>
                <a:ext cx="1143000" cy="1524000"/>
              </a:xfrm>
              <a:prstGeom prst="rect">
                <a:avLst/>
              </a:prstGeom>
            </p:spPr>
          </p:pic>
          <p:sp>
            <p:nvSpPr>
              <p:cNvPr id="8" name="TextBox 8"/>
              <p:cNvSpPr txBox="1"/>
              <p:nvPr/>
            </p:nvSpPr>
            <p:spPr>
              <a:xfrm>
                <a:off x="1651635" y="19659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D1 · 库塔海滩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56398" y="2244566"/>
                <a:ext cx="8075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抵达 + 自由活动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657350" y="2443162"/>
                <a:ext cx="8191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印度尼西亚必打卡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57350" y="2681288"/>
                <a:ext cx="9291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评分 4.5 · 浪漫日落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238625" y="1714500"/>
              <a:ext cx="3714750" cy="1524000"/>
              <a:chOff x="4238625" y="1714500"/>
              <a:chExt cx="3714750" cy="1524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238625" y="1714500"/>
                <a:ext cx="3714750" cy="1524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pic>
            <p:nvPicPr>
              <p:cNvPr id="14" name="Image 1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38625" y="1714500"/>
                <a:ext cx="1143000" cy="1524000"/>
              </a:xfrm>
              <a:prstGeom prst="rect">
                <a:avLst/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5509260" y="1965960"/>
                <a:ext cx="12486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D2 · 阿勇河漂流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514022" y="2244566"/>
                <a:ext cx="64803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刺激 2h 漂流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514975" y="2443162"/>
                <a:ext cx="50411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B 别墅秘境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14975" y="2681288"/>
                <a:ext cx="72913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评分 4.3 · 雨林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096250" y="1714500"/>
              <a:ext cx="3714750" cy="1524000"/>
              <a:chOff x="8096250" y="1714500"/>
              <a:chExt cx="3714750" cy="1524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096250" y="1714500"/>
                <a:ext cx="3714750" cy="1524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pic>
            <p:nvPicPr>
              <p:cNvPr id="21" name="Image 2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6250" y="1714500"/>
                <a:ext cx="1143000" cy="1524000"/>
              </a:xfrm>
              <a:prstGeom prst="rect">
                <a:avLst/>
              </a:prstGeom>
            </p:spPr>
          </p:pic>
          <p:sp>
            <p:nvSpPr>
              <p:cNvPr id="22" name="TextBox 22"/>
              <p:cNvSpPr txBox="1"/>
              <p:nvPr/>
            </p:nvSpPr>
            <p:spPr>
              <a:xfrm>
                <a:off x="9366885" y="1965960"/>
                <a:ext cx="10806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D2 · 乌布皇宫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71648" y="2244566"/>
                <a:ext cx="58752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艺术 + 集市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72600" y="2443162"/>
                <a:ext cx="71913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巴厘岛文化中心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72600" y="2681288"/>
                <a:ext cx="72913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评分 4.6 · 必去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81000" y="3429000"/>
              <a:ext cx="3714750" cy="1524000"/>
              <a:chOff x="381000" y="3429000"/>
              <a:chExt cx="3714750" cy="1524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81000" y="3429000"/>
                <a:ext cx="3714750" cy="1524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pic>
            <p:nvPicPr>
              <p:cNvPr id="28" name="Image 2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000" y="3429000"/>
                <a:ext cx="1143000" cy="1524000"/>
              </a:xfrm>
              <a:prstGeom prst="rect">
                <a:avLst/>
              </a:prstGeom>
            </p:spPr>
          </p:pic>
          <p:sp>
            <p:nvSpPr>
              <p:cNvPr id="29" name="TextBox 29"/>
              <p:cNvSpPr txBox="1"/>
              <p:nvPr/>
            </p:nvSpPr>
            <p:spPr>
              <a:xfrm>
                <a:off x="1651635" y="3680460"/>
                <a:ext cx="14166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D3 · 德格拉朗梯田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56398" y="3959066"/>
                <a:ext cx="58752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椰风 + 田园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57350" y="4157662"/>
                <a:ext cx="8191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印度尼西亚必打卡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657350" y="4395788"/>
                <a:ext cx="72913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评分 4.5 · 拍片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238625" y="3429000"/>
              <a:ext cx="3714750" cy="1524000"/>
              <a:chOff x="4238625" y="3429000"/>
              <a:chExt cx="3714750" cy="15240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238625" y="3429000"/>
                <a:ext cx="3714750" cy="1524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pic>
            <p:nvPicPr>
              <p:cNvPr id="35" name="Image 3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38625" y="3429000"/>
                <a:ext cx="1143000" cy="1524000"/>
              </a:xfrm>
              <a:prstGeom prst="rect">
                <a:avLst/>
              </a:prstGeom>
            </p:spPr>
          </p:pic>
          <p:sp>
            <p:nvSpPr>
              <p:cNvPr id="36" name="TextBox 36"/>
              <p:cNvSpPr txBox="1"/>
              <p:nvPr/>
            </p:nvSpPr>
            <p:spPr>
              <a:xfrm>
                <a:off x="5509260" y="3680460"/>
                <a:ext cx="14166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D4 · 罗威纳追海豚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514022" y="3959066"/>
                <a:ext cx="93406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日出 + 黑沙 + 海豚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514975" y="4157662"/>
                <a:ext cx="65412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C0392B"/>
                    </a:solidFill>
                    <a:latin typeface="Segoe UI"/>
                    <a:ea typeface="Microsoft YaHei"/>
                    <a:cs typeface="Segoe UI"/>
                  </a:rPr>
                  <a:t>★ 必打卡 No.7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514975" y="4395788"/>
                <a:ext cx="81414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评分 4.0 · D 限追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8096250" y="3429000"/>
              <a:ext cx="3714750" cy="1524000"/>
              <a:chOff x="8096250" y="3429000"/>
              <a:chExt cx="3714750" cy="1524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096250" y="3429000"/>
                <a:ext cx="3714750" cy="1524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pic>
            <p:nvPicPr>
              <p:cNvPr id="42" name="Image 4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96250" y="3429000"/>
                <a:ext cx="1143000" cy="1524000"/>
              </a:xfrm>
              <a:prstGeom prst="rect">
                <a:avLst/>
              </a:prstGeom>
            </p:spPr>
          </p:pic>
          <p:sp>
            <p:nvSpPr>
              <p:cNvPr id="43" name="TextBox 43"/>
              <p:cNvSpPr txBox="1"/>
              <p:nvPr/>
            </p:nvSpPr>
            <p:spPr>
              <a:xfrm>
                <a:off x="9366885" y="3680460"/>
                <a:ext cx="9125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D5 · 蓝梦岛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371648" y="3959066"/>
                <a:ext cx="9175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恶魔的眼泪 + 浮潜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372600" y="4157662"/>
                <a:ext cx="50411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A 线路主推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372600" y="4395788"/>
                <a:ext cx="72913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评分 4.7 · 必去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81000" y="5143500"/>
              <a:ext cx="3714750" cy="1143000"/>
              <a:chOff x="381000" y="5143500"/>
              <a:chExt cx="3714750" cy="11430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381000" y="5143500"/>
                <a:ext cx="3714750" cy="1143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pic>
            <p:nvPicPr>
              <p:cNvPr id="49" name="Image 4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3875" y="5143500"/>
                <a:ext cx="857250" cy="1143000"/>
              </a:xfrm>
              <a:prstGeom prst="rect">
                <a:avLst/>
              </a:prstGeom>
            </p:spPr>
          </p:pic>
          <p:sp>
            <p:nvSpPr>
              <p:cNvPr id="50" name="TextBox 50"/>
              <p:cNvSpPr txBox="1"/>
              <p:nvPr/>
            </p:nvSpPr>
            <p:spPr>
              <a:xfrm>
                <a:off x="1653540" y="5363528"/>
                <a:ext cx="9455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D5 · 佩妮达岛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657350" y="5586412"/>
                <a:ext cx="9341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精灵沙滩 + 天神浴池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657350" y="5748338"/>
                <a:ext cx="50411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A 双岛出海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657350" y="5938838"/>
                <a:ext cx="9291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评分 4.6 · 悬崖海景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4238625" y="5143500"/>
              <a:ext cx="3714750" cy="1143000"/>
              <a:chOff x="4238625" y="5143500"/>
              <a:chExt cx="3714750" cy="11430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4238625" y="5143500"/>
                <a:ext cx="3714750" cy="1143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pic>
            <p:nvPicPr>
              <p:cNvPr id="56" name="Image 56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38625" y="5195455"/>
                <a:ext cx="1143000" cy="1039091"/>
              </a:xfrm>
              <a:prstGeom prst="rect">
                <a:avLst/>
              </a:prstGeom>
            </p:spPr>
          </p:pic>
          <p:sp>
            <p:nvSpPr>
              <p:cNvPr id="57" name="TextBox 57"/>
              <p:cNvSpPr txBox="1"/>
              <p:nvPr/>
            </p:nvSpPr>
            <p:spPr>
              <a:xfrm>
                <a:off x="5511165" y="5363528"/>
                <a:ext cx="12395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D6 · 乌鲁瓦图悬崖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5514975" y="5586412"/>
                <a:ext cx="83415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情人崖 + 凯卡克舞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514975" y="5748338"/>
                <a:ext cx="41409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B/C 也含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514975" y="5938838"/>
                <a:ext cx="72913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评分 4.5 · 日落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8096250" y="5143500"/>
              <a:ext cx="3714750" cy="1143000"/>
              <a:chOff x="8096250" y="5143500"/>
              <a:chExt cx="3714750" cy="11430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8096250" y="5143500"/>
                <a:ext cx="3714750" cy="1143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4C5A0"/>
                </a:solidFill>
              </a:ln>
            </p:spPr>
          </p:sp>
          <p:pic>
            <p:nvPicPr>
              <p:cNvPr id="63" name="Image 63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39125" y="5143500"/>
                <a:ext cx="857250" cy="1143000"/>
              </a:xfrm>
              <a:prstGeom prst="rect">
                <a:avLst/>
              </a:prstGeom>
            </p:spPr>
          </p:pic>
          <p:sp>
            <p:nvSpPr>
              <p:cNvPr id="64" name="TextBox 64"/>
              <p:cNvSpPr txBox="1"/>
              <p:nvPr/>
            </p:nvSpPr>
            <p:spPr>
              <a:xfrm>
                <a:off x="9368790" y="5363528"/>
                <a:ext cx="10925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D6 · 金巴兰海滩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372600" y="5586412"/>
                <a:ext cx="53411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C5C5C"/>
                    </a:solidFill>
                    <a:latin typeface="Segoe UI"/>
                    <a:ea typeface="Microsoft YaHei"/>
                    <a:cs typeface="Segoe UI"/>
                  </a:rPr>
                  <a:t>落日 + 烧烤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372600" y="5748338"/>
                <a:ext cx="71913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F4E79"/>
                    </a:solidFill>
                    <a:latin typeface="Segoe UI"/>
                    <a:ea typeface="Microsoft YaHei"/>
                    <a:cs typeface="Segoe UI"/>
                  </a:rPr>
                  <a:t>A 主推 + 酒店区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372600" y="5938838"/>
                <a:ext cx="9291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E6B53"/>
                    </a:solidFill>
                    <a:latin typeface="Segoe UI"/>
                    <a:ea typeface="Microsoft YaHei"/>
                    <a:cs typeface="Segoe UI"/>
                  </a:rPr>
                  <a:t>评分 4.4 · 全球最美</a:t>
                </a:r>
              </a:p>
            </p:txBody>
          </p:sp>
        </p:grpSp>
      </p:grpSp>
      <p:sp>
        <p:nvSpPr>
          <p:cNvPr id="70" name="TextBox 70"/>
          <p:cNvSpPr txBox="1"/>
          <p:nvPr/>
        </p:nvSpPr>
        <p:spPr>
          <a:xfrm>
            <a:off x="561022" y="6578441"/>
            <a:ext cx="56701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5C5C"/>
                </a:solidFill>
                <a:latin typeface="Segoe UI"/>
                <a:ea typeface="Microsoft YaHei"/>
                <a:cs typeface="Segoe UI"/>
              </a:rPr>
              <a:t>数据: 携程 e2e 抓 imageStyleInfo.poiInfo.ImagePoiList · 10 个官方景点图 (D1-D6 实际涉及 9 个) · 2026-06-07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990469" y="6578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F4E79"/>
                </a:solidFill>
                <a:latin typeface="Segoe UI"/>
                <a:ea typeface="Microsoft YaHei"/>
                <a:cs typeface="Segoe UI"/>
              </a:rPr>
              <a:t>P28 / 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9" grpId="0"/>
      <p:bldP spid="70" grpId="0"/>
      <p:bldP spid="7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